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oppins Bold Italics" charset="1" panose="00000800000000000000"/>
      <p:regular r:id="rId24"/>
    </p:embeddedFont>
    <p:embeddedFont>
      <p:font typeface="Codec Pro Ultra-Bold" charset="1" panose="00000700000000000000"/>
      <p:regular r:id="rId25"/>
    </p:embeddedFont>
    <p:embeddedFont>
      <p:font typeface="Codec Pro Bold" charset="1" panose="00000600000000000000"/>
      <p:regular r:id="rId26"/>
    </p:embeddedFont>
    <p:embeddedFont>
      <p:font typeface="Poppins Ultra-Bold" charset="1" panose="000009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2536899">
            <a:off x="15947147" y="8645034"/>
            <a:ext cx="3891393" cy="2832801"/>
            <a:chOff x="0" y="0"/>
            <a:chExt cx="1024894" cy="746088"/>
          </a:xfrm>
        </p:grpSpPr>
        <p:sp>
          <p:nvSpPr>
            <p:cNvPr name="Freeform 3" id="3"/>
            <p:cNvSpPr/>
            <p:nvPr/>
          </p:nvSpPr>
          <p:spPr>
            <a:xfrm flipH="false" flipV="false" rot="0">
              <a:off x="0" y="0"/>
              <a:ext cx="1024894" cy="746088"/>
            </a:xfrm>
            <a:custGeom>
              <a:avLst/>
              <a:gdLst/>
              <a:ahLst/>
              <a:cxnLst/>
              <a:rect r="r" b="b" t="t" l="l"/>
              <a:pathLst>
                <a:path h="746088" w="1024894">
                  <a:moveTo>
                    <a:pt x="0" y="0"/>
                  </a:moveTo>
                  <a:lnTo>
                    <a:pt x="1024894" y="0"/>
                  </a:lnTo>
                  <a:lnTo>
                    <a:pt x="1024894" y="746088"/>
                  </a:lnTo>
                  <a:lnTo>
                    <a:pt x="0" y="746088"/>
                  </a:lnTo>
                  <a:close/>
                </a:path>
              </a:pathLst>
            </a:custGeom>
            <a:gradFill rotWithShape="true">
              <a:gsLst>
                <a:gs pos="0">
                  <a:srgbClr val="2C3094">
                    <a:alpha val="100000"/>
                  </a:srgbClr>
                </a:gs>
                <a:gs pos="100000">
                  <a:srgbClr val="6B7FE1">
                    <a:alpha val="100000"/>
                  </a:srgbClr>
                </a:gs>
              </a:gsLst>
              <a:lin ang="0"/>
            </a:gradFill>
          </p:spPr>
        </p:sp>
        <p:sp>
          <p:nvSpPr>
            <p:cNvPr name="TextBox 4" id="4"/>
            <p:cNvSpPr txBox="true"/>
            <p:nvPr/>
          </p:nvSpPr>
          <p:spPr>
            <a:xfrm>
              <a:off x="0" y="-57150"/>
              <a:ext cx="1024894" cy="803238"/>
            </a:xfrm>
            <a:prstGeom prst="rect">
              <a:avLst/>
            </a:prstGeom>
          </p:spPr>
          <p:txBody>
            <a:bodyPr anchor="ctr" rtlCol="false" tIns="50800" lIns="50800" bIns="50800" rIns="50800"/>
            <a:lstStyle/>
            <a:p>
              <a:pPr algn="ctr">
                <a:lnSpc>
                  <a:spcPts val="2810"/>
                </a:lnSpc>
              </a:pPr>
            </a:p>
          </p:txBody>
        </p:sp>
      </p:grpSp>
      <p:grpSp>
        <p:nvGrpSpPr>
          <p:cNvPr name="Group 5" id="5"/>
          <p:cNvGrpSpPr/>
          <p:nvPr/>
        </p:nvGrpSpPr>
        <p:grpSpPr>
          <a:xfrm rot="-2536899">
            <a:off x="-1895934" y="-844380"/>
            <a:ext cx="4920099" cy="2349107"/>
            <a:chOff x="0" y="0"/>
            <a:chExt cx="1295829" cy="618695"/>
          </a:xfrm>
        </p:grpSpPr>
        <p:sp>
          <p:nvSpPr>
            <p:cNvPr name="Freeform 6" id="6"/>
            <p:cNvSpPr/>
            <p:nvPr/>
          </p:nvSpPr>
          <p:spPr>
            <a:xfrm flipH="false" flipV="false" rot="0">
              <a:off x="0" y="0"/>
              <a:ext cx="1295829" cy="618695"/>
            </a:xfrm>
            <a:custGeom>
              <a:avLst/>
              <a:gdLst/>
              <a:ahLst/>
              <a:cxnLst/>
              <a:rect r="r" b="b" t="t" l="l"/>
              <a:pathLst>
                <a:path h="618695" w="1295829">
                  <a:moveTo>
                    <a:pt x="0" y="0"/>
                  </a:moveTo>
                  <a:lnTo>
                    <a:pt x="1295829" y="0"/>
                  </a:lnTo>
                  <a:lnTo>
                    <a:pt x="1295829" y="618695"/>
                  </a:lnTo>
                  <a:lnTo>
                    <a:pt x="0" y="618695"/>
                  </a:lnTo>
                  <a:close/>
                </a:path>
              </a:pathLst>
            </a:custGeom>
            <a:gradFill rotWithShape="true">
              <a:gsLst>
                <a:gs pos="0">
                  <a:srgbClr val="2C3094">
                    <a:alpha val="100000"/>
                  </a:srgbClr>
                </a:gs>
                <a:gs pos="100000">
                  <a:srgbClr val="6B7FE1">
                    <a:alpha val="100000"/>
                  </a:srgbClr>
                </a:gs>
              </a:gsLst>
              <a:lin ang="0"/>
            </a:gradFill>
          </p:spPr>
        </p:sp>
        <p:sp>
          <p:nvSpPr>
            <p:cNvPr name="TextBox 7" id="7"/>
            <p:cNvSpPr txBox="true"/>
            <p:nvPr/>
          </p:nvSpPr>
          <p:spPr>
            <a:xfrm>
              <a:off x="0" y="-57150"/>
              <a:ext cx="1295829" cy="675845"/>
            </a:xfrm>
            <a:prstGeom prst="rect">
              <a:avLst/>
            </a:prstGeom>
          </p:spPr>
          <p:txBody>
            <a:bodyPr anchor="ctr" rtlCol="false" tIns="50800" lIns="50800" bIns="50800" rIns="50800"/>
            <a:lstStyle/>
            <a:p>
              <a:pPr algn="ctr">
                <a:lnSpc>
                  <a:spcPts val="2810"/>
                </a:lnSpc>
              </a:pPr>
            </a:p>
          </p:txBody>
        </p:sp>
      </p:grpSp>
      <p:grpSp>
        <p:nvGrpSpPr>
          <p:cNvPr name="Group 8" id="8"/>
          <p:cNvGrpSpPr/>
          <p:nvPr/>
        </p:nvGrpSpPr>
        <p:grpSpPr>
          <a:xfrm rot="-2536899">
            <a:off x="-692145" y="1064287"/>
            <a:ext cx="4931998" cy="150442"/>
            <a:chOff x="0" y="0"/>
            <a:chExt cx="1298963" cy="39623"/>
          </a:xfrm>
        </p:grpSpPr>
        <p:sp>
          <p:nvSpPr>
            <p:cNvPr name="Freeform 9" id="9"/>
            <p:cNvSpPr/>
            <p:nvPr/>
          </p:nvSpPr>
          <p:spPr>
            <a:xfrm flipH="false" flipV="false" rot="0">
              <a:off x="0" y="0"/>
              <a:ext cx="1298963" cy="39623"/>
            </a:xfrm>
            <a:custGeom>
              <a:avLst/>
              <a:gdLst/>
              <a:ahLst/>
              <a:cxnLst/>
              <a:rect r="r" b="b" t="t" l="l"/>
              <a:pathLst>
                <a:path h="39623" w="1298963">
                  <a:moveTo>
                    <a:pt x="0" y="0"/>
                  </a:moveTo>
                  <a:lnTo>
                    <a:pt x="1298963" y="0"/>
                  </a:lnTo>
                  <a:lnTo>
                    <a:pt x="1298963" y="39623"/>
                  </a:lnTo>
                  <a:lnTo>
                    <a:pt x="0" y="39623"/>
                  </a:lnTo>
                  <a:close/>
                </a:path>
              </a:pathLst>
            </a:custGeom>
            <a:solidFill>
              <a:srgbClr val="FFFFFF"/>
            </a:solidFill>
          </p:spPr>
        </p:sp>
        <p:sp>
          <p:nvSpPr>
            <p:cNvPr name="TextBox 10" id="10"/>
            <p:cNvSpPr txBox="true"/>
            <p:nvPr/>
          </p:nvSpPr>
          <p:spPr>
            <a:xfrm>
              <a:off x="0" y="-57150"/>
              <a:ext cx="1298963" cy="96773"/>
            </a:xfrm>
            <a:prstGeom prst="rect">
              <a:avLst/>
            </a:prstGeom>
          </p:spPr>
          <p:txBody>
            <a:bodyPr anchor="ctr" rtlCol="false" tIns="50800" lIns="50800" bIns="50800" rIns="50800"/>
            <a:lstStyle/>
            <a:p>
              <a:pPr algn="ctr">
                <a:lnSpc>
                  <a:spcPts val="2810"/>
                </a:lnSpc>
              </a:pPr>
            </a:p>
          </p:txBody>
        </p:sp>
      </p:grpSp>
      <p:sp>
        <p:nvSpPr>
          <p:cNvPr name="Freeform 11" id="11"/>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3521471" y="675434"/>
            <a:ext cx="11245059" cy="734499"/>
            <a:chOff x="0" y="0"/>
            <a:chExt cx="2961662" cy="193448"/>
          </a:xfrm>
        </p:grpSpPr>
        <p:sp>
          <p:nvSpPr>
            <p:cNvPr name="Freeform 13" id="13"/>
            <p:cNvSpPr/>
            <p:nvPr/>
          </p:nvSpPr>
          <p:spPr>
            <a:xfrm flipH="false" flipV="false" rot="0">
              <a:off x="0" y="0"/>
              <a:ext cx="2961661" cy="193448"/>
            </a:xfrm>
            <a:custGeom>
              <a:avLst/>
              <a:gdLst/>
              <a:ahLst/>
              <a:cxnLst/>
              <a:rect r="r" b="b" t="t" l="l"/>
              <a:pathLst>
                <a:path h="193448" w="2961661">
                  <a:moveTo>
                    <a:pt x="68847" y="0"/>
                  </a:moveTo>
                  <a:lnTo>
                    <a:pt x="2892814" y="0"/>
                  </a:lnTo>
                  <a:cubicBezTo>
                    <a:pt x="2930838" y="0"/>
                    <a:pt x="2961661" y="30824"/>
                    <a:pt x="2961661" y="68847"/>
                  </a:cubicBezTo>
                  <a:lnTo>
                    <a:pt x="2961661" y="124601"/>
                  </a:lnTo>
                  <a:cubicBezTo>
                    <a:pt x="2961661" y="142860"/>
                    <a:pt x="2954408" y="160372"/>
                    <a:pt x="2941497" y="173283"/>
                  </a:cubicBezTo>
                  <a:cubicBezTo>
                    <a:pt x="2928585" y="186195"/>
                    <a:pt x="2911074" y="193448"/>
                    <a:pt x="2892814" y="193448"/>
                  </a:cubicBezTo>
                  <a:lnTo>
                    <a:pt x="68847" y="193448"/>
                  </a:lnTo>
                  <a:cubicBezTo>
                    <a:pt x="30824" y="193448"/>
                    <a:pt x="0" y="162624"/>
                    <a:pt x="0" y="124601"/>
                  </a:cubicBezTo>
                  <a:lnTo>
                    <a:pt x="0" y="68847"/>
                  </a:lnTo>
                  <a:cubicBezTo>
                    <a:pt x="0" y="30824"/>
                    <a:pt x="30824" y="0"/>
                    <a:pt x="68847" y="0"/>
                  </a:cubicBezTo>
                  <a:close/>
                </a:path>
              </a:pathLst>
            </a:custGeom>
            <a:gradFill rotWithShape="true">
              <a:gsLst>
                <a:gs pos="0">
                  <a:srgbClr val="022F6B">
                    <a:alpha val="100000"/>
                  </a:srgbClr>
                </a:gs>
                <a:gs pos="100000">
                  <a:srgbClr val="000000">
                    <a:alpha val="100000"/>
                  </a:srgbClr>
                </a:gs>
              </a:gsLst>
              <a:lin ang="2700000"/>
            </a:gradFill>
          </p:spPr>
        </p:sp>
        <p:sp>
          <p:nvSpPr>
            <p:cNvPr name="TextBox 14" id="14"/>
            <p:cNvSpPr txBox="true"/>
            <p:nvPr/>
          </p:nvSpPr>
          <p:spPr>
            <a:xfrm>
              <a:off x="0" y="-85725"/>
              <a:ext cx="2961662" cy="279173"/>
            </a:xfrm>
            <a:prstGeom prst="rect">
              <a:avLst/>
            </a:prstGeom>
          </p:spPr>
          <p:txBody>
            <a:bodyPr anchor="ctr" rtlCol="false" tIns="50800" lIns="50800" bIns="50800" rIns="50800"/>
            <a:lstStyle/>
            <a:p>
              <a:pPr algn="ctr">
                <a:lnSpc>
                  <a:spcPts val="3919"/>
                </a:lnSpc>
              </a:pPr>
            </a:p>
          </p:txBody>
        </p:sp>
      </p:grpSp>
      <p:sp>
        <p:nvSpPr>
          <p:cNvPr name="Freeform 15" id="15"/>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AutoShape 16" id="16"/>
          <p:cNvSpPr/>
          <p:nvPr/>
        </p:nvSpPr>
        <p:spPr>
          <a:xfrm>
            <a:off x="5897880" y="1428983"/>
            <a:ext cx="6492240" cy="0"/>
          </a:xfrm>
          <a:prstGeom prst="line">
            <a:avLst/>
          </a:prstGeom>
          <a:ln cap="flat" w="38100">
            <a:solidFill>
              <a:srgbClr val="FFFFFF"/>
            </a:solidFill>
            <a:prstDash val="solid"/>
            <a:headEnd type="none" len="sm" w="sm"/>
            <a:tailEnd type="none" len="sm" w="sm"/>
          </a:ln>
        </p:spPr>
      </p:sp>
      <p:sp>
        <p:nvSpPr>
          <p:cNvPr name="TextBox 17" id="17"/>
          <p:cNvSpPr txBox="true"/>
          <p:nvPr/>
        </p:nvSpPr>
        <p:spPr>
          <a:xfrm rot="0">
            <a:off x="914292" y="2730399"/>
            <a:ext cx="16459417" cy="3411326"/>
          </a:xfrm>
          <a:prstGeom prst="rect">
            <a:avLst/>
          </a:prstGeom>
        </p:spPr>
        <p:txBody>
          <a:bodyPr anchor="t" rtlCol="false" tIns="0" lIns="0" bIns="0" rIns="0">
            <a:spAutoFit/>
          </a:bodyPr>
          <a:lstStyle/>
          <a:p>
            <a:pPr algn="ctr">
              <a:lnSpc>
                <a:spcPts val="13064"/>
              </a:lnSpc>
            </a:pPr>
            <a:r>
              <a:rPr lang="en-US" b="true" sz="10708" i="true" spc="-546">
                <a:solidFill>
                  <a:srgbClr val="6A84FF"/>
                </a:solidFill>
                <a:latin typeface="Poppins Bold Italics"/>
                <a:ea typeface="Poppins Bold Italics"/>
                <a:cs typeface="Poppins Bold Italics"/>
                <a:sym typeface="Poppins Bold Italics"/>
              </a:rPr>
              <a:t>ÁLGEBRA LINEAL EN LA SEGURIDAD INFORMÁTICA</a:t>
            </a:r>
          </a:p>
        </p:txBody>
      </p:sp>
      <p:sp>
        <p:nvSpPr>
          <p:cNvPr name="TextBox 18" id="18"/>
          <p:cNvSpPr txBox="true"/>
          <p:nvPr/>
        </p:nvSpPr>
        <p:spPr>
          <a:xfrm rot="0">
            <a:off x="4010566" y="744869"/>
            <a:ext cx="5518006" cy="509905"/>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b="true" sz="2799" i="true">
                <a:solidFill>
                  <a:srgbClr val="FFFFFF"/>
                </a:solidFill>
                <a:latin typeface="Poppins Bold Italics"/>
                <a:ea typeface="Poppins Bold Italics"/>
                <a:cs typeface="Poppins Bold Italics"/>
                <a:sym typeface="Poppins Bold Italics"/>
              </a:rPr>
              <a:t>DESARROLLO DE SOFTWARE</a:t>
            </a:r>
          </a:p>
        </p:txBody>
      </p:sp>
      <p:sp>
        <p:nvSpPr>
          <p:cNvPr name="TextBox 19" id="19"/>
          <p:cNvSpPr txBox="true"/>
          <p:nvPr/>
        </p:nvSpPr>
        <p:spPr>
          <a:xfrm rot="0">
            <a:off x="10756620" y="744869"/>
            <a:ext cx="3520814" cy="509905"/>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b="true" sz="2799" i="true">
                <a:solidFill>
                  <a:srgbClr val="FFFFFF"/>
                </a:solidFill>
                <a:latin typeface="Poppins Bold Italics"/>
                <a:ea typeface="Poppins Bold Italics"/>
                <a:cs typeface="Poppins Bold Italics"/>
                <a:sym typeface="Poppins Bold Italics"/>
              </a:rPr>
              <a:t>ÁLGEBRA LINEAL</a:t>
            </a:r>
          </a:p>
        </p:txBody>
      </p:sp>
      <p:sp>
        <p:nvSpPr>
          <p:cNvPr name="TextBox 20" id="20"/>
          <p:cNvSpPr txBox="true"/>
          <p:nvPr/>
        </p:nvSpPr>
        <p:spPr>
          <a:xfrm rot="0">
            <a:off x="1256678" y="8386260"/>
            <a:ext cx="5518006"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i="true">
                <a:solidFill>
                  <a:srgbClr val="FFFFFF"/>
                </a:solidFill>
                <a:latin typeface="Poppins Bold Italics"/>
                <a:ea typeface="Poppins Bold Italics"/>
                <a:cs typeface="Poppins Bold Italics"/>
                <a:sym typeface="Poppins Bold Italics"/>
              </a:rPr>
              <a:t>YERSON CHILITO MOLINA</a:t>
            </a:r>
          </a:p>
        </p:txBody>
      </p:sp>
      <p:sp>
        <p:nvSpPr>
          <p:cNvPr name="TextBox 21" id="21"/>
          <p:cNvSpPr txBox="true"/>
          <p:nvPr/>
        </p:nvSpPr>
        <p:spPr>
          <a:xfrm rot="0">
            <a:off x="1246448" y="8990766"/>
            <a:ext cx="5518006"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i="true">
                <a:solidFill>
                  <a:srgbClr val="FFFFFF"/>
                </a:solidFill>
                <a:latin typeface="Poppins Bold Italics"/>
                <a:ea typeface="Poppins Bold Italics"/>
                <a:cs typeface="Poppins Bold Italics"/>
                <a:sym typeface="Poppins Bold Italics"/>
              </a:rPr>
              <a:t>FABER GARZON GOMEZ</a:t>
            </a:r>
          </a:p>
        </p:txBody>
      </p:sp>
      <p:sp>
        <p:nvSpPr>
          <p:cNvPr name="TextBox 22" id="22"/>
          <p:cNvSpPr txBox="true"/>
          <p:nvPr/>
        </p:nvSpPr>
        <p:spPr>
          <a:xfrm rot="0">
            <a:off x="2322564" y="7688170"/>
            <a:ext cx="3305737" cy="509905"/>
          </a:xfrm>
          <a:prstGeom prst="rect">
            <a:avLst/>
          </a:prstGeom>
        </p:spPr>
        <p:txBody>
          <a:bodyPr anchor="t" rtlCol="false" tIns="0" lIns="0" bIns="0" rIns="0">
            <a:spAutoFit/>
          </a:bodyPr>
          <a:lstStyle/>
          <a:p>
            <a:pPr algn="l">
              <a:lnSpc>
                <a:spcPts val="3919"/>
              </a:lnSpc>
              <a:spcBef>
                <a:spcPct val="0"/>
              </a:spcBef>
            </a:pPr>
            <a:r>
              <a:rPr lang="en-US" b="true" sz="2799" i="true">
                <a:solidFill>
                  <a:srgbClr val="FFFFFF"/>
                </a:solidFill>
                <a:latin typeface="Poppins Bold Italics"/>
                <a:ea typeface="Poppins Bold Italics"/>
                <a:cs typeface="Poppins Bold Italics"/>
                <a:sym typeface="Poppins Bold Italics"/>
              </a:rPr>
              <a:t>PRESENTADO POR:</a:t>
            </a:r>
          </a:p>
        </p:txBody>
      </p:sp>
      <p:grpSp>
        <p:nvGrpSpPr>
          <p:cNvPr name="Group 23" id="23"/>
          <p:cNvGrpSpPr/>
          <p:nvPr/>
        </p:nvGrpSpPr>
        <p:grpSpPr>
          <a:xfrm rot="-2536899">
            <a:off x="13797621" y="8643222"/>
            <a:ext cx="5356113" cy="123596"/>
            <a:chOff x="0" y="0"/>
            <a:chExt cx="1410663" cy="32552"/>
          </a:xfrm>
        </p:grpSpPr>
        <p:sp>
          <p:nvSpPr>
            <p:cNvPr name="Freeform 24" id="24"/>
            <p:cNvSpPr/>
            <p:nvPr/>
          </p:nvSpPr>
          <p:spPr>
            <a:xfrm flipH="false" flipV="false" rot="0">
              <a:off x="0" y="0"/>
              <a:ext cx="1410663" cy="32552"/>
            </a:xfrm>
            <a:custGeom>
              <a:avLst/>
              <a:gdLst/>
              <a:ahLst/>
              <a:cxnLst/>
              <a:rect r="r" b="b" t="t" l="l"/>
              <a:pathLst>
                <a:path h="32552" w="1410663">
                  <a:moveTo>
                    <a:pt x="0" y="0"/>
                  </a:moveTo>
                  <a:lnTo>
                    <a:pt x="1410663" y="0"/>
                  </a:lnTo>
                  <a:lnTo>
                    <a:pt x="1410663" y="32552"/>
                  </a:lnTo>
                  <a:lnTo>
                    <a:pt x="0" y="32552"/>
                  </a:lnTo>
                  <a:close/>
                </a:path>
              </a:pathLst>
            </a:custGeom>
            <a:solidFill>
              <a:srgbClr val="FFFFFF"/>
            </a:solidFill>
          </p:spPr>
        </p:sp>
        <p:sp>
          <p:nvSpPr>
            <p:cNvPr name="TextBox 25" id="25"/>
            <p:cNvSpPr txBox="true"/>
            <p:nvPr/>
          </p:nvSpPr>
          <p:spPr>
            <a:xfrm>
              <a:off x="0" y="-57150"/>
              <a:ext cx="1410663" cy="89702"/>
            </a:xfrm>
            <a:prstGeom prst="rect">
              <a:avLst/>
            </a:prstGeom>
          </p:spPr>
          <p:txBody>
            <a:bodyPr anchor="ctr" rtlCol="false" tIns="50800" lIns="50800" bIns="50800" rIns="50800"/>
            <a:lstStyle/>
            <a:p>
              <a:pPr algn="ctr">
                <a:lnSpc>
                  <a:spcPts val="2810"/>
                </a:lnSpc>
              </a:pPr>
            </a:p>
          </p:txBody>
        </p:sp>
      </p:grpSp>
      <p:sp>
        <p:nvSpPr>
          <p:cNvPr name="Freeform 26" id="26"/>
          <p:cNvSpPr/>
          <p:nvPr/>
        </p:nvSpPr>
        <p:spPr>
          <a:xfrm flipH="false" flipV="false" rot="0">
            <a:off x="15236073" y="7329786"/>
            <a:ext cx="2656770" cy="2484996"/>
          </a:xfrm>
          <a:custGeom>
            <a:avLst/>
            <a:gdLst/>
            <a:ahLst/>
            <a:cxnLst/>
            <a:rect r="r" b="b" t="t" l="l"/>
            <a:pathLst>
              <a:path h="2484996" w="2656770">
                <a:moveTo>
                  <a:pt x="0" y="0"/>
                </a:moveTo>
                <a:lnTo>
                  <a:pt x="2656770" y="0"/>
                </a:lnTo>
                <a:lnTo>
                  <a:pt x="2656770" y="2484996"/>
                </a:lnTo>
                <a:lnTo>
                  <a:pt x="0" y="2484996"/>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307" y="0"/>
            <a:ext cx="18297307" cy="10334189"/>
            <a:chOff x="0" y="0"/>
            <a:chExt cx="4819044" cy="2721762"/>
          </a:xfrm>
        </p:grpSpPr>
        <p:sp>
          <p:nvSpPr>
            <p:cNvPr name="Freeform 5" id="5"/>
            <p:cNvSpPr/>
            <p:nvPr/>
          </p:nvSpPr>
          <p:spPr>
            <a:xfrm flipH="false" flipV="false" rot="0">
              <a:off x="0" y="0"/>
              <a:ext cx="4819044" cy="2721762"/>
            </a:xfrm>
            <a:custGeom>
              <a:avLst/>
              <a:gdLst/>
              <a:ahLst/>
              <a:cxnLst/>
              <a:rect r="r" b="b" t="t" l="l"/>
              <a:pathLst>
                <a:path h="2721762" w="4819044">
                  <a:moveTo>
                    <a:pt x="0" y="0"/>
                  </a:moveTo>
                  <a:lnTo>
                    <a:pt x="4819044" y="0"/>
                  </a:lnTo>
                  <a:lnTo>
                    <a:pt x="4819044" y="2721762"/>
                  </a:lnTo>
                  <a:lnTo>
                    <a:pt x="0" y="2721762"/>
                  </a:lnTo>
                  <a:close/>
                </a:path>
              </a:pathLst>
            </a:custGeom>
            <a:gradFill rotWithShape="true">
              <a:gsLst>
                <a:gs pos="0">
                  <a:srgbClr val="000000">
                    <a:alpha val="85000"/>
                  </a:srgbClr>
                </a:gs>
                <a:gs pos="100000">
                  <a:srgbClr val="010047">
                    <a:alpha val="85000"/>
                  </a:srgbClr>
                </a:gs>
              </a:gsLst>
              <a:lin ang="2700000"/>
            </a:gradFill>
            <a:ln cap="sq">
              <a:noFill/>
              <a:prstDash val="solid"/>
              <a:miter/>
            </a:ln>
          </p:spPr>
        </p:sp>
        <p:sp>
          <p:nvSpPr>
            <p:cNvPr name="TextBox 6" id="6"/>
            <p:cNvSpPr txBox="true"/>
            <p:nvPr/>
          </p:nvSpPr>
          <p:spPr>
            <a:xfrm>
              <a:off x="0" y="-57150"/>
              <a:ext cx="4819044" cy="2778912"/>
            </a:xfrm>
            <a:prstGeom prst="rect">
              <a:avLst/>
            </a:prstGeom>
          </p:spPr>
          <p:txBody>
            <a:bodyPr anchor="ctr" rtlCol="false" tIns="50800" lIns="50800" bIns="50800" rIns="50800"/>
            <a:lstStyle/>
            <a:p>
              <a:pPr algn="ctr">
                <a:lnSpc>
                  <a:spcPts val="2810"/>
                </a:lnSpc>
              </a:pPr>
            </a:p>
          </p:txBody>
        </p:sp>
      </p:grpSp>
      <p:sp>
        <p:nvSpPr>
          <p:cNvPr name="Freeform 7" id="7"/>
          <p:cNvSpPr/>
          <p:nvPr/>
        </p:nvSpPr>
        <p:spPr>
          <a:xfrm flipH="false" flipV="false" rot="0">
            <a:off x="-2719302" y="77182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5440968" y="-2991610"/>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37455" y="3165749"/>
            <a:ext cx="597297" cy="59729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12" id="12"/>
          <p:cNvSpPr txBox="true"/>
          <p:nvPr/>
        </p:nvSpPr>
        <p:spPr>
          <a:xfrm rot="0">
            <a:off x="7795915" y="619859"/>
            <a:ext cx="3169044" cy="1228674"/>
          </a:xfrm>
          <a:prstGeom prst="rect">
            <a:avLst/>
          </a:prstGeom>
        </p:spPr>
        <p:txBody>
          <a:bodyPr anchor="t" rtlCol="false" tIns="0" lIns="0" bIns="0" rIns="0">
            <a:spAutoFit/>
          </a:bodyPr>
          <a:lstStyle/>
          <a:p>
            <a:pPr algn="l">
              <a:lnSpc>
                <a:spcPts val="9174"/>
              </a:lnSpc>
            </a:pPr>
            <a:r>
              <a:rPr lang="en-US" b="true" sz="7520" i="true" spc="-383">
                <a:solidFill>
                  <a:srgbClr val="6A84FF"/>
                </a:solidFill>
                <a:latin typeface="Poppins Bold Italics"/>
                <a:ea typeface="Poppins Bold Italics"/>
                <a:cs typeface="Poppins Bold Italics"/>
                <a:sym typeface="Poppins Bold Italics"/>
              </a:rPr>
              <a:t>ÍNDICE</a:t>
            </a:r>
          </a:p>
        </p:txBody>
      </p:sp>
      <p:sp>
        <p:nvSpPr>
          <p:cNvPr name="TextBox 13" id="13"/>
          <p:cNvSpPr txBox="true"/>
          <p:nvPr/>
        </p:nvSpPr>
        <p:spPr>
          <a:xfrm rot="0">
            <a:off x="2555979" y="3220121"/>
            <a:ext cx="2729095" cy="560070"/>
          </a:xfrm>
          <a:prstGeom prst="rect">
            <a:avLst/>
          </a:prstGeom>
        </p:spPr>
        <p:txBody>
          <a:bodyPr anchor="t" rtlCol="false" tIns="0" lIns="0" bIns="0" rIns="0">
            <a:spAutoFit/>
          </a:bodyPr>
          <a:lstStyle/>
          <a:p>
            <a:pPr algn="just">
              <a:lnSpc>
                <a:spcPts val="3959"/>
              </a:lnSpc>
            </a:pPr>
            <a:r>
              <a:rPr lang="en-US" b="true" sz="3299">
                <a:solidFill>
                  <a:srgbClr val="F0F2FD"/>
                </a:solidFill>
                <a:latin typeface="Codec Pro Ultra-Bold"/>
                <a:ea typeface="Codec Pro Ultra-Bold"/>
                <a:cs typeface="Codec Pro Ultra-Bold"/>
                <a:sym typeface="Codec Pro Ultra-Bold"/>
              </a:rPr>
              <a:t>Introducción</a:t>
            </a:r>
          </a:p>
        </p:txBody>
      </p:sp>
      <p:grpSp>
        <p:nvGrpSpPr>
          <p:cNvPr name="Group 14" id="14"/>
          <p:cNvGrpSpPr/>
          <p:nvPr/>
        </p:nvGrpSpPr>
        <p:grpSpPr>
          <a:xfrm rot="0">
            <a:off x="1717378" y="4393397"/>
            <a:ext cx="597297" cy="597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17" id="17"/>
          <p:cNvSpPr txBox="true"/>
          <p:nvPr/>
        </p:nvSpPr>
        <p:spPr>
          <a:xfrm rot="0">
            <a:off x="2535902" y="4430624"/>
            <a:ext cx="3326408" cy="560070"/>
          </a:xfrm>
          <a:prstGeom prst="rect">
            <a:avLst/>
          </a:prstGeom>
        </p:spPr>
        <p:txBody>
          <a:bodyPr anchor="t" rtlCol="false" tIns="0" lIns="0" bIns="0" rIns="0">
            <a:spAutoFit/>
          </a:bodyPr>
          <a:lstStyle/>
          <a:p>
            <a:pPr algn="just">
              <a:lnSpc>
                <a:spcPts val="3959"/>
              </a:lnSpc>
            </a:pPr>
            <a:r>
              <a:rPr lang="en-US" sz="3299" b="true">
                <a:solidFill>
                  <a:srgbClr val="F0F2FD"/>
                </a:solidFill>
                <a:latin typeface="Codec Pro Ultra-Bold"/>
                <a:ea typeface="Codec Pro Ultra-Bold"/>
                <a:cs typeface="Codec Pro Ultra-Bold"/>
                <a:sym typeface="Codec Pro Ultra-Bold"/>
              </a:rPr>
              <a:t>Objetivos</a:t>
            </a:r>
          </a:p>
        </p:txBody>
      </p:sp>
      <p:grpSp>
        <p:nvGrpSpPr>
          <p:cNvPr name="Group 18" id="18"/>
          <p:cNvGrpSpPr/>
          <p:nvPr/>
        </p:nvGrpSpPr>
        <p:grpSpPr>
          <a:xfrm rot="0">
            <a:off x="9232485" y="3165749"/>
            <a:ext cx="597297" cy="5972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21" id="21"/>
          <p:cNvSpPr txBox="true"/>
          <p:nvPr/>
        </p:nvSpPr>
        <p:spPr>
          <a:xfrm rot="0">
            <a:off x="10051010" y="3202976"/>
            <a:ext cx="3326408" cy="560070"/>
          </a:xfrm>
          <a:prstGeom prst="rect">
            <a:avLst/>
          </a:prstGeom>
        </p:spPr>
        <p:txBody>
          <a:bodyPr anchor="t" rtlCol="false" tIns="0" lIns="0" bIns="0" rIns="0">
            <a:spAutoFit/>
          </a:bodyPr>
          <a:lstStyle/>
          <a:p>
            <a:pPr algn="just">
              <a:lnSpc>
                <a:spcPts val="3959"/>
              </a:lnSpc>
            </a:pPr>
            <a:r>
              <a:rPr lang="en-US" sz="3299" b="true">
                <a:solidFill>
                  <a:srgbClr val="F0F2FD"/>
                </a:solidFill>
                <a:latin typeface="Codec Pro Ultra-Bold"/>
                <a:ea typeface="Codec Pro Ultra-Bold"/>
                <a:cs typeface="Codec Pro Ultra-Bold"/>
                <a:sym typeface="Codec Pro Ultra-Bold"/>
              </a:rPr>
              <a:t>Desarrollo</a:t>
            </a:r>
          </a:p>
        </p:txBody>
      </p:sp>
      <p:grpSp>
        <p:nvGrpSpPr>
          <p:cNvPr name="Group 22" id="22"/>
          <p:cNvGrpSpPr/>
          <p:nvPr/>
        </p:nvGrpSpPr>
        <p:grpSpPr>
          <a:xfrm rot="0">
            <a:off x="9232485" y="6774325"/>
            <a:ext cx="597297" cy="59729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25" id="25"/>
          <p:cNvSpPr txBox="true"/>
          <p:nvPr/>
        </p:nvSpPr>
        <p:spPr>
          <a:xfrm rot="0">
            <a:off x="10051010" y="6811553"/>
            <a:ext cx="3326408" cy="560070"/>
          </a:xfrm>
          <a:prstGeom prst="rect">
            <a:avLst/>
          </a:prstGeom>
        </p:spPr>
        <p:txBody>
          <a:bodyPr anchor="t" rtlCol="false" tIns="0" lIns="0" bIns="0" rIns="0">
            <a:spAutoFit/>
          </a:bodyPr>
          <a:lstStyle/>
          <a:p>
            <a:pPr algn="just">
              <a:lnSpc>
                <a:spcPts val="3959"/>
              </a:lnSpc>
            </a:pPr>
            <a:r>
              <a:rPr lang="en-US" sz="3299" b="true">
                <a:solidFill>
                  <a:srgbClr val="F0F2FD"/>
                </a:solidFill>
                <a:latin typeface="Codec Pro Ultra-Bold"/>
                <a:ea typeface="Codec Pro Ultra-Bold"/>
                <a:cs typeface="Codec Pro Ultra-Bold"/>
                <a:sym typeface="Codec Pro Ultra-Bold"/>
              </a:rPr>
              <a:t>Conclusiones</a:t>
            </a:r>
          </a:p>
        </p:txBody>
      </p:sp>
      <p:grpSp>
        <p:nvGrpSpPr>
          <p:cNvPr name="Group 26" id="26"/>
          <p:cNvGrpSpPr/>
          <p:nvPr/>
        </p:nvGrpSpPr>
        <p:grpSpPr>
          <a:xfrm rot="0">
            <a:off x="9232485" y="7901881"/>
            <a:ext cx="597297" cy="59729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29" id="29"/>
          <p:cNvSpPr txBox="true"/>
          <p:nvPr/>
        </p:nvSpPr>
        <p:spPr>
          <a:xfrm rot="0">
            <a:off x="10051010" y="7939108"/>
            <a:ext cx="3326408" cy="560070"/>
          </a:xfrm>
          <a:prstGeom prst="rect">
            <a:avLst/>
          </a:prstGeom>
        </p:spPr>
        <p:txBody>
          <a:bodyPr anchor="t" rtlCol="false" tIns="0" lIns="0" bIns="0" rIns="0">
            <a:spAutoFit/>
          </a:bodyPr>
          <a:lstStyle/>
          <a:p>
            <a:pPr algn="just">
              <a:lnSpc>
                <a:spcPts val="3959"/>
              </a:lnSpc>
            </a:pPr>
            <a:r>
              <a:rPr lang="en-US" sz="3299" b="true">
                <a:solidFill>
                  <a:srgbClr val="F0F2FD"/>
                </a:solidFill>
                <a:latin typeface="Codec Pro Ultra-Bold"/>
                <a:ea typeface="Codec Pro Ultra-Bold"/>
                <a:cs typeface="Codec Pro Ultra-Bold"/>
                <a:sym typeface="Codec Pro Ultra-Bold"/>
              </a:rPr>
              <a:t>Bibliografías</a:t>
            </a:r>
          </a:p>
        </p:txBody>
      </p:sp>
      <p:sp>
        <p:nvSpPr>
          <p:cNvPr name="TextBox 30" id="30"/>
          <p:cNvSpPr txBox="true"/>
          <p:nvPr/>
        </p:nvSpPr>
        <p:spPr>
          <a:xfrm rot="0">
            <a:off x="9704584" y="3886871"/>
            <a:ext cx="6866038" cy="2068830"/>
          </a:xfrm>
          <a:prstGeom prst="rect">
            <a:avLst/>
          </a:prstGeom>
        </p:spPr>
        <p:txBody>
          <a:bodyPr anchor="t" rtlCol="false" tIns="0" lIns="0" bIns="0" rIns="0">
            <a:spAutoFit/>
          </a:bodyPr>
          <a:lstStyle/>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Planteamiento del problema</a:t>
            </a:r>
          </a:p>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Solución por Gauss-Jordan</a:t>
            </a:r>
          </a:p>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Producto Punto e integridad</a:t>
            </a:r>
          </a:p>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Análisis de Escalabilidad</a:t>
            </a:r>
          </a:p>
        </p:txBody>
      </p:sp>
      <p:sp>
        <p:nvSpPr>
          <p:cNvPr name="TextBox 31" id="31"/>
          <p:cNvSpPr txBox="true"/>
          <p:nvPr/>
        </p:nvSpPr>
        <p:spPr>
          <a:xfrm rot="0">
            <a:off x="2189476" y="5082685"/>
            <a:ext cx="5003610" cy="1062990"/>
          </a:xfrm>
          <a:prstGeom prst="rect">
            <a:avLst/>
          </a:prstGeom>
        </p:spPr>
        <p:txBody>
          <a:bodyPr anchor="t" rtlCol="false" tIns="0" lIns="0" bIns="0" rIns="0">
            <a:spAutoFit/>
          </a:bodyPr>
          <a:lstStyle/>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General</a:t>
            </a:r>
          </a:p>
          <a:p>
            <a:pPr algn="l" marL="712465" indent="-356233" lvl="1">
              <a:lnSpc>
                <a:spcPts val="3959"/>
              </a:lnSpc>
              <a:buFont typeface="Arial"/>
              <a:buChar char="•"/>
            </a:pPr>
            <a:r>
              <a:rPr lang="en-US" b="true" sz="3299">
                <a:solidFill>
                  <a:srgbClr val="F0F2FD"/>
                </a:solidFill>
                <a:latin typeface="Codec Pro Ultra-Bold"/>
                <a:ea typeface="Codec Pro Ultra-Bold"/>
                <a:cs typeface="Codec Pro Ultra-Bold"/>
                <a:sym typeface="Codec Pro Ultra-Bold"/>
              </a:rPr>
              <a:t>Especificos</a:t>
            </a:r>
          </a:p>
        </p:txBody>
      </p:sp>
      <p:sp>
        <p:nvSpPr>
          <p:cNvPr name="AutoShape 32" id="32"/>
          <p:cNvSpPr/>
          <p:nvPr/>
        </p:nvSpPr>
        <p:spPr>
          <a:xfrm>
            <a:off x="7258426" y="1848533"/>
            <a:ext cx="3771149" cy="0"/>
          </a:xfrm>
          <a:prstGeom prst="line">
            <a:avLst/>
          </a:prstGeom>
          <a:ln cap="flat" w="38100">
            <a:solidFill>
              <a:srgbClr val="FFFFFF"/>
            </a:solidFill>
            <a:prstDash val="solid"/>
            <a:headEnd type="none" len="sm" w="sm"/>
            <a:tailEnd type="none" len="sm" w="sm"/>
          </a:ln>
        </p:spPr>
      </p:sp>
      <p:grpSp>
        <p:nvGrpSpPr>
          <p:cNvPr name="Group 33" id="33"/>
          <p:cNvGrpSpPr/>
          <p:nvPr/>
        </p:nvGrpSpPr>
        <p:grpSpPr>
          <a:xfrm rot="0">
            <a:off x="1737455" y="6774325"/>
            <a:ext cx="597297" cy="59729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35" id="35"/>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TextBox 36" id="36"/>
          <p:cNvSpPr txBox="true"/>
          <p:nvPr/>
        </p:nvSpPr>
        <p:spPr>
          <a:xfrm rot="0">
            <a:off x="2555979" y="6811553"/>
            <a:ext cx="3326408" cy="560070"/>
          </a:xfrm>
          <a:prstGeom prst="rect">
            <a:avLst/>
          </a:prstGeom>
        </p:spPr>
        <p:txBody>
          <a:bodyPr anchor="t" rtlCol="false" tIns="0" lIns="0" bIns="0" rIns="0">
            <a:spAutoFit/>
          </a:bodyPr>
          <a:lstStyle/>
          <a:p>
            <a:pPr algn="just">
              <a:lnSpc>
                <a:spcPts val="3959"/>
              </a:lnSpc>
            </a:pPr>
            <a:r>
              <a:rPr lang="en-US" sz="3299" b="true">
                <a:solidFill>
                  <a:srgbClr val="F0F2FD"/>
                </a:solidFill>
                <a:latin typeface="Codec Pro Ultra-Bold"/>
                <a:ea typeface="Codec Pro Ultra-Bold"/>
                <a:cs typeface="Codec Pro Ultra-Bold"/>
                <a:sym typeface="Codec Pro Ultra-Bold"/>
              </a:rPr>
              <a:t>Marco Teórico</a:t>
            </a:r>
          </a:p>
        </p:txBody>
      </p:sp>
      <p:sp>
        <p:nvSpPr>
          <p:cNvPr name="TextBox 37" id="37"/>
          <p:cNvSpPr txBox="true"/>
          <p:nvPr/>
        </p:nvSpPr>
        <p:spPr>
          <a:xfrm rot="0">
            <a:off x="2209553" y="7466873"/>
            <a:ext cx="4805221" cy="1047750"/>
          </a:xfrm>
          <a:prstGeom prst="rect">
            <a:avLst/>
          </a:prstGeom>
        </p:spPr>
        <p:txBody>
          <a:bodyPr anchor="t" rtlCol="false" tIns="0" lIns="0" bIns="0" rIns="0">
            <a:spAutoFit/>
          </a:bodyPr>
          <a:lstStyle/>
          <a:p>
            <a:pPr algn="l" marL="712465" indent="-356233" lvl="1">
              <a:lnSpc>
                <a:spcPts val="3959"/>
              </a:lnSpc>
              <a:buFont typeface="Arial"/>
              <a:buChar char="•"/>
            </a:pPr>
            <a:r>
              <a:rPr lang="en-US" b="true" sz="3299">
                <a:solidFill>
                  <a:srgbClr val="F0F2FD"/>
                </a:solidFill>
                <a:latin typeface="Codec Pro Bold"/>
                <a:ea typeface="Codec Pro Bold"/>
                <a:cs typeface="Codec Pro Bold"/>
                <a:sym typeface="Codec Pro Bold"/>
              </a:rPr>
              <a:t>Matrices</a:t>
            </a:r>
          </a:p>
          <a:p>
            <a:pPr algn="l" marL="712465" indent="-356233" lvl="1">
              <a:lnSpc>
                <a:spcPts val="3959"/>
              </a:lnSpc>
              <a:buFont typeface="Arial"/>
              <a:buChar char="•"/>
            </a:pPr>
            <a:r>
              <a:rPr lang="en-US" b="true" sz="3299">
                <a:solidFill>
                  <a:srgbClr val="F0F2FD"/>
                </a:solidFill>
                <a:latin typeface="Codec Pro Bold"/>
                <a:ea typeface="Codec Pro Bold"/>
                <a:cs typeface="Codec Pro Bold"/>
                <a:sym typeface="Codec Pro Bold"/>
              </a:rPr>
              <a:t>Determinante</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1015958"/>
            <a:ext cx="630453" cy="6304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sp>
        <p:nvSpPr>
          <p:cNvPr name="Freeform 7" id="7"/>
          <p:cNvSpPr/>
          <p:nvPr/>
        </p:nvSpPr>
        <p:spPr>
          <a:xfrm flipH="false" flipV="false" rot="0">
            <a:off x="9621988" y="2709995"/>
            <a:ext cx="8205298" cy="5946959"/>
          </a:xfrm>
          <a:custGeom>
            <a:avLst/>
            <a:gdLst/>
            <a:ahLst/>
            <a:cxnLst/>
            <a:rect r="r" b="b" t="t" l="l"/>
            <a:pathLst>
              <a:path h="5946959" w="8205298">
                <a:moveTo>
                  <a:pt x="0" y="0"/>
                </a:moveTo>
                <a:lnTo>
                  <a:pt x="8205298" y="0"/>
                </a:lnTo>
                <a:lnTo>
                  <a:pt x="8205298" y="5946960"/>
                </a:lnTo>
                <a:lnTo>
                  <a:pt x="0" y="5946960"/>
                </a:lnTo>
                <a:lnTo>
                  <a:pt x="0" y="0"/>
                </a:lnTo>
                <a:close/>
              </a:path>
            </a:pathLst>
          </a:custGeom>
          <a:blipFill>
            <a:blip r:embed="rId4"/>
            <a:stretch>
              <a:fillRect l="0" t="0" r="0" b="0"/>
            </a:stretch>
          </a:blipFill>
        </p:spPr>
      </p:sp>
      <p:sp>
        <p:nvSpPr>
          <p:cNvPr name="TextBox 8" id="8"/>
          <p:cNvSpPr txBox="true"/>
          <p:nvPr/>
        </p:nvSpPr>
        <p:spPr>
          <a:xfrm rot="0">
            <a:off x="2370373" y="673987"/>
            <a:ext cx="6937144"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INTRODUCCIÓN</a:t>
            </a:r>
          </a:p>
        </p:txBody>
      </p:sp>
      <p:sp>
        <p:nvSpPr>
          <p:cNvPr name="TextBox 9" id="9"/>
          <p:cNvSpPr txBox="true"/>
          <p:nvPr/>
        </p:nvSpPr>
        <p:spPr>
          <a:xfrm rot="0">
            <a:off x="702596" y="2652845"/>
            <a:ext cx="8278818" cy="5977150"/>
          </a:xfrm>
          <a:prstGeom prst="rect">
            <a:avLst/>
          </a:prstGeom>
        </p:spPr>
        <p:txBody>
          <a:bodyPr anchor="t" rtlCol="false" tIns="0" lIns="0" bIns="0" rIns="0">
            <a:spAutoFit/>
          </a:bodyPr>
          <a:lstStyle/>
          <a:p>
            <a:pPr algn="just">
              <a:lnSpc>
                <a:spcPts val="4250"/>
              </a:lnSpc>
            </a:pPr>
            <a:r>
              <a:rPr lang="en-US" sz="3541" b="true">
                <a:solidFill>
                  <a:srgbClr val="F0F2FD"/>
                </a:solidFill>
                <a:latin typeface="Codec Pro Ultra-Bold"/>
                <a:ea typeface="Codec Pro Ultra-Bold"/>
                <a:cs typeface="Codec Pro Ultra-Bold"/>
                <a:sym typeface="Codec Pro Ultra-Bold"/>
              </a:rPr>
              <a:t>Actualmente, la seguridad de la información depende de estructuras matemáticas para garantizar su integridad y confidencialidad.</a:t>
            </a:r>
          </a:p>
          <a:p>
            <a:pPr algn="just">
              <a:lnSpc>
                <a:spcPts val="4250"/>
              </a:lnSpc>
            </a:pPr>
          </a:p>
          <a:p>
            <a:pPr algn="just" marL="764652" indent="-382326" lvl="1">
              <a:lnSpc>
                <a:spcPts val="4250"/>
              </a:lnSpc>
              <a:buFont typeface="Arial"/>
              <a:buChar char="•"/>
            </a:pPr>
            <a:r>
              <a:rPr lang="en-US" b="true" sz="3541">
                <a:solidFill>
                  <a:srgbClr val="F0F2FD"/>
                </a:solidFill>
                <a:latin typeface="Codec Pro Ultra-Bold"/>
                <a:ea typeface="Codec Pro Ultra-Bold"/>
                <a:cs typeface="Codec Pro Ultra-Bold"/>
                <a:sym typeface="Codec Pro Ultra-Bold"/>
              </a:rPr>
              <a:t>Modelando ataques simulados mediante sistemas de ecuaciones.</a:t>
            </a:r>
          </a:p>
          <a:p>
            <a:pPr algn="just" marL="764652" indent="-382326" lvl="1">
              <a:lnSpc>
                <a:spcPts val="4250"/>
              </a:lnSpc>
              <a:buFont typeface="Arial"/>
              <a:buChar char="•"/>
            </a:pPr>
            <a:r>
              <a:rPr lang="en-US" b="true" sz="3541">
                <a:solidFill>
                  <a:srgbClr val="F0F2FD"/>
                </a:solidFill>
                <a:latin typeface="Codec Pro Ultra-Bold"/>
                <a:ea typeface="Codec Pro Ultra-Bold"/>
                <a:cs typeface="Codec Pro Ultra-Bold"/>
                <a:sym typeface="Codec Pro Ultra-Bold"/>
              </a:rPr>
              <a:t>Validando llaves criptográficas para descifrar accesos.</a:t>
            </a:r>
          </a:p>
          <a:p>
            <a:pPr algn="just" marL="764652" indent="-382326" lvl="1">
              <a:lnSpc>
                <a:spcPts val="4250"/>
              </a:lnSpc>
              <a:buFont typeface="Arial"/>
              <a:buChar char="•"/>
            </a:pPr>
            <a:r>
              <a:rPr lang="en-US" b="true" sz="3541">
                <a:solidFill>
                  <a:srgbClr val="F0F2FD"/>
                </a:solidFill>
                <a:latin typeface="Codec Pro Ultra-Bold"/>
                <a:ea typeface="Codec Pro Ultra-Bold"/>
                <a:cs typeface="Codec Pro Ultra-Bold"/>
                <a:sym typeface="Codec Pro Ultra-Bold"/>
              </a:rPr>
              <a:t>Detectando intrusiones en la red mediante un análisis vectorial.</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501192" y="861100"/>
            <a:ext cx="630453" cy="6304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grpSp>
        <p:nvGrpSpPr>
          <p:cNvPr name="Group 6" id="6"/>
          <p:cNvGrpSpPr/>
          <p:nvPr/>
        </p:nvGrpSpPr>
        <p:grpSpPr>
          <a:xfrm rot="0">
            <a:off x="3200404" y="2831655"/>
            <a:ext cx="2931241" cy="121659"/>
            <a:chOff x="0" y="0"/>
            <a:chExt cx="772014" cy="32042"/>
          </a:xfrm>
        </p:grpSpPr>
        <p:sp>
          <p:nvSpPr>
            <p:cNvPr name="Freeform 7" id="7"/>
            <p:cNvSpPr/>
            <p:nvPr/>
          </p:nvSpPr>
          <p:spPr>
            <a:xfrm flipH="false" flipV="false" rot="0">
              <a:off x="0" y="0"/>
              <a:ext cx="772014" cy="32042"/>
            </a:xfrm>
            <a:custGeom>
              <a:avLst/>
              <a:gdLst/>
              <a:ahLst/>
              <a:cxnLst/>
              <a:rect r="r" b="b" t="t" l="l"/>
              <a:pathLst>
                <a:path h="32042" w="772014">
                  <a:moveTo>
                    <a:pt x="0" y="0"/>
                  </a:moveTo>
                  <a:lnTo>
                    <a:pt x="772014" y="0"/>
                  </a:lnTo>
                  <a:lnTo>
                    <a:pt x="772014" y="32042"/>
                  </a:lnTo>
                  <a:lnTo>
                    <a:pt x="0" y="32042"/>
                  </a:lnTo>
                  <a:close/>
                </a:path>
              </a:pathLst>
            </a:custGeom>
            <a:solidFill>
              <a:srgbClr val="00CE21"/>
            </a:solidFill>
          </p:spPr>
        </p:sp>
        <p:sp>
          <p:nvSpPr>
            <p:cNvPr name="TextBox 8" id="8"/>
            <p:cNvSpPr txBox="true"/>
            <p:nvPr/>
          </p:nvSpPr>
          <p:spPr>
            <a:xfrm>
              <a:off x="0" y="-57150"/>
              <a:ext cx="772014" cy="89192"/>
            </a:xfrm>
            <a:prstGeom prst="rect">
              <a:avLst/>
            </a:prstGeom>
          </p:spPr>
          <p:txBody>
            <a:bodyPr anchor="ctr" rtlCol="false" tIns="50800" lIns="50800" bIns="50800" rIns="50800"/>
            <a:lstStyle/>
            <a:p>
              <a:pPr algn="ctr">
                <a:lnSpc>
                  <a:spcPts val="2810"/>
                </a:lnSpc>
              </a:pPr>
            </a:p>
          </p:txBody>
        </p:sp>
      </p:grpSp>
      <p:sp>
        <p:nvSpPr>
          <p:cNvPr name="TextBox 9" id="9"/>
          <p:cNvSpPr txBox="true"/>
          <p:nvPr/>
        </p:nvSpPr>
        <p:spPr>
          <a:xfrm rot="0">
            <a:off x="6794770" y="519129"/>
            <a:ext cx="5992038"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OBJETIVOS</a:t>
            </a:r>
          </a:p>
        </p:txBody>
      </p:sp>
      <p:sp>
        <p:nvSpPr>
          <p:cNvPr name="AutoShape 10" id="10"/>
          <p:cNvSpPr/>
          <p:nvPr/>
        </p:nvSpPr>
        <p:spPr>
          <a:xfrm>
            <a:off x="9163050" y="3045251"/>
            <a:ext cx="0" cy="6492240"/>
          </a:xfrm>
          <a:prstGeom prst="line">
            <a:avLst/>
          </a:prstGeom>
          <a:ln cap="flat" w="38100">
            <a:solidFill>
              <a:srgbClr val="FFFFFF"/>
            </a:solidFill>
            <a:prstDash val="solid"/>
            <a:headEnd type="none" len="sm" w="sm"/>
            <a:tailEnd type="none" len="sm" w="sm"/>
          </a:ln>
        </p:spPr>
      </p:sp>
      <p:sp>
        <p:nvSpPr>
          <p:cNvPr name="TextBox 11" id="11"/>
          <p:cNvSpPr txBox="true"/>
          <p:nvPr/>
        </p:nvSpPr>
        <p:spPr>
          <a:xfrm rot="0">
            <a:off x="3454285" y="3007151"/>
            <a:ext cx="2466651" cy="628650"/>
          </a:xfrm>
          <a:prstGeom prst="rect">
            <a:avLst/>
          </a:prstGeom>
        </p:spPr>
        <p:txBody>
          <a:bodyPr anchor="t" rtlCol="false" tIns="0" lIns="0" bIns="0" rIns="0">
            <a:spAutoFit/>
          </a:bodyPr>
          <a:lstStyle/>
          <a:p>
            <a:pPr algn="just">
              <a:lnSpc>
                <a:spcPts val="4706"/>
              </a:lnSpc>
            </a:pPr>
            <a:r>
              <a:rPr lang="en-US" b="true" sz="3922" i="true">
                <a:solidFill>
                  <a:srgbClr val="F0F2FD"/>
                </a:solidFill>
                <a:latin typeface="Poppins Bold Italics"/>
                <a:ea typeface="Poppins Bold Italics"/>
                <a:cs typeface="Poppins Bold Italics"/>
                <a:sym typeface="Poppins Bold Italics"/>
              </a:rPr>
              <a:t>GENERAL</a:t>
            </a:r>
          </a:p>
        </p:txBody>
      </p:sp>
      <p:grpSp>
        <p:nvGrpSpPr>
          <p:cNvPr name="Group 12" id="12"/>
          <p:cNvGrpSpPr/>
          <p:nvPr/>
        </p:nvGrpSpPr>
        <p:grpSpPr>
          <a:xfrm rot="0">
            <a:off x="12264017" y="2831655"/>
            <a:ext cx="2931241" cy="121659"/>
            <a:chOff x="0" y="0"/>
            <a:chExt cx="772014" cy="32042"/>
          </a:xfrm>
        </p:grpSpPr>
        <p:sp>
          <p:nvSpPr>
            <p:cNvPr name="Freeform 13" id="13"/>
            <p:cNvSpPr/>
            <p:nvPr/>
          </p:nvSpPr>
          <p:spPr>
            <a:xfrm flipH="false" flipV="false" rot="0">
              <a:off x="0" y="0"/>
              <a:ext cx="772014" cy="32042"/>
            </a:xfrm>
            <a:custGeom>
              <a:avLst/>
              <a:gdLst/>
              <a:ahLst/>
              <a:cxnLst/>
              <a:rect r="r" b="b" t="t" l="l"/>
              <a:pathLst>
                <a:path h="32042" w="772014">
                  <a:moveTo>
                    <a:pt x="0" y="0"/>
                  </a:moveTo>
                  <a:lnTo>
                    <a:pt x="772014" y="0"/>
                  </a:lnTo>
                  <a:lnTo>
                    <a:pt x="772014" y="32042"/>
                  </a:lnTo>
                  <a:lnTo>
                    <a:pt x="0" y="32042"/>
                  </a:lnTo>
                  <a:close/>
                </a:path>
              </a:pathLst>
            </a:custGeom>
            <a:solidFill>
              <a:srgbClr val="F2FF00"/>
            </a:solidFill>
          </p:spPr>
        </p:sp>
        <p:sp>
          <p:nvSpPr>
            <p:cNvPr name="TextBox 14" id="14"/>
            <p:cNvSpPr txBox="true"/>
            <p:nvPr/>
          </p:nvSpPr>
          <p:spPr>
            <a:xfrm>
              <a:off x="0" y="-57150"/>
              <a:ext cx="772014" cy="89192"/>
            </a:xfrm>
            <a:prstGeom prst="rect">
              <a:avLst/>
            </a:prstGeom>
          </p:spPr>
          <p:txBody>
            <a:bodyPr anchor="ctr" rtlCol="false" tIns="50800" lIns="50800" bIns="50800" rIns="50800"/>
            <a:lstStyle/>
            <a:p>
              <a:pPr algn="ctr">
                <a:lnSpc>
                  <a:spcPts val="2810"/>
                </a:lnSpc>
              </a:pPr>
            </a:p>
          </p:txBody>
        </p:sp>
      </p:grpSp>
      <p:sp>
        <p:nvSpPr>
          <p:cNvPr name="TextBox 15" id="15"/>
          <p:cNvSpPr txBox="true"/>
          <p:nvPr/>
        </p:nvSpPr>
        <p:spPr>
          <a:xfrm rot="0">
            <a:off x="12064920" y="3007151"/>
            <a:ext cx="3329436" cy="628650"/>
          </a:xfrm>
          <a:prstGeom prst="rect">
            <a:avLst/>
          </a:prstGeom>
        </p:spPr>
        <p:txBody>
          <a:bodyPr anchor="t" rtlCol="false" tIns="0" lIns="0" bIns="0" rIns="0">
            <a:spAutoFit/>
          </a:bodyPr>
          <a:lstStyle/>
          <a:p>
            <a:pPr algn="just">
              <a:lnSpc>
                <a:spcPts val="4706"/>
              </a:lnSpc>
            </a:pPr>
            <a:r>
              <a:rPr lang="en-US" b="true" sz="3922" i="true">
                <a:solidFill>
                  <a:srgbClr val="F0F2FD"/>
                </a:solidFill>
                <a:latin typeface="Poppins Bold Italics"/>
                <a:ea typeface="Poppins Bold Italics"/>
                <a:cs typeface="Poppins Bold Italics"/>
                <a:sym typeface="Poppins Bold Italics"/>
              </a:rPr>
              <a:t>ESPECIFICOS</a:t>
            </a:r>
          </a:p>
        </p:txBody>
      </p:sp>
      <p:sp>
        <p:nvSpPr>
          <p:cNvPr name="TextBox 16" id="16"/>
          <p:cNvSpPr txBox="true"/>
          <p:nvPr/>
        </p:nvSpPr>
        <p:spPr>
          <a:xfrm rot="0">
            <a:off x="899658" y="4152900"/>
            <a:ext cx="7575903" cy="284607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Demostrar la utilidad práctica del Álgebra Lineal en la resolución de problemas de Seguridad Informática, int</a:t>
            </a:r>
            <a:r>
              <a:rPr lang="en-US" b="true" sz="3000">
                <a:solidFill>
                  <a:srgbClr val="F0F2FD"/>
                </a:solidFill>
                <a:latin typeface="Codec Pro Ultra-Bold"/>
                <a:ea typeface="Codec Pro Ultra-Bold"/>
                <a:cs typeface="Codec Pro Ultra-Bold"/>
                <a:sym typeface="Codec Pro Ultra-Bold"/>
              </a:rPr>
              <a:t>egrando matrices, determinantes y sistemas de ecuaciones para la protección de datos.</a:t>
            </a:r>
          </a:p>
        </p:txBody>
      </p:sp>
      <p:sp>
        <p:nvSpPr>
          <p:cNvPr name="TextBox 17" id="17"/>
          <p:cNvSpPr txBox="true"/>
          <p:nvPr/>
        </p:nvSpPr>
        <p:spPr>
          <a:xfrm rot="0">
            <a:off x="9683397" y="4152900"/>
            <a:ext cx="7575903" cy="145161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Evaluar la viabilidad criptográfica de los sistemas de cif</a:t>
            </a:r>
            <a:r>
              <a:rPr lang="en-US" b="true" sz="3000">
                <a:solidFill>
                  <a:srgbClr val="F0F2FD"/>
                </a:solidFill>
                <a:latin typeface="Codec Pro Ultra-Bold"/>
                <a:ea typeface="Codec Pro Ultra-Bold"/>
                <a:cs typeface="Codec Pro Ultra-Bold"/>
                <a:sym typeface="Codec Pro Ultra-Bold"/>
              </a:rPr>
              <a:t>rado mediante el cálculo de determinantes.</a:t>
            </a:r>
          </a:p>
        </p:txBody>
      </p:sp>
      <p:sp>
        <p:nvSpPr>
          <p:cNvPr name="TextBox 18" id="18"/>
          <p:cNvSpPr txBox="true"/>
          <p:nvPr/>
        </p:nvSpPr>
        <p:spPr>
          <a:xfrm rot="0">
            <a:off x="9683397" y="6118860"/>
            <a:ext cx="7575903" cy="145161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Implementar el método de eliminación de Gauss-Jordan para descif</a:t>
            </a:r>
            <a:r>
              <a:rPr lang="en-US" b="true" sz="3000">
                <a:solidFill>
                  <a:srgbClr val="F0F2FD"/>
                </a:solidFill>
                <a:latin typeface="Codec Pro Ultra-Bold"/>
                <a:ea typeface="Codec Pro Ultra-Bold"/>
                <a:cs typeface="Codec Pro Ultra-Bold"/>
                <a:sym typeface="Codec Pro Ultra-Bold"/>
              </a:rPr>
              <a:t>rar llaves de acceso complejas.</a:t>
            </a:r>
          </a:p>
        </p:txBody>
      </p:sp>
      <p:sp>
        <p:nvSpPr>
          <p:cNvPr name="TextBox 19" id="19"/>
          <p:cNvSpPr txBox="true"/>
          <p:nvPr/>
        </p:nvSpPr>
        <p:spPr>
          <a:xfrm rot="0">
            <a:off x="9790789" y="8084820"/>
            <a:ext cx="7575903" cy="145161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Comprobar la consistencia de los datos mediante el producto punto</a:t>
            </a:r>
            <a:r>
              <a:rPr lang="en-US" b="true" sz="3000">
                <a:solidFill>
                  <a:srgbClr val="F0F2FD"/>
                </a:solidFill>
                <a:latin typeface="Codec Pro Ultra-Bold"/>
                <a:ea typeface="Codec Pro Ultra-Bold"/>
                <a:cs typeface="Codec Pro Ultra-Bold"/>
                <a:sym typeface="Codec Pro Ultra-Bold"/>
              </a:rPr>
              <a:t> y la propiedad de homogeneidad.</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649468" y="861100"/>
            <a:ext cx="630453" cy="6304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DDD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810"/>
                </a:lnSpc>
              </a:pPr>
            </a:p>
          </p:txBody>
        </p:sp>
      </p:grpSp>
      <p:grpSp>
        <p:nvGrpSpPr>
          <p:cNvPr name="Group 6" id="6"/>
          <p:cNvGrpSpPr/>
          <p:nvPr/>
        </p:nvGrpSpPr>
        <p:grpSpPr>
          <a:xfrm rot="0">
            <a:off x="6484618" y="3376745"/>
            <a:ext cx="5318763" cy="5356588"/>
            <a:chOff x="0" y="0"/>
            <a:chExt cx="1556532" cy="1567602"/>
          </a:xfrm>
        </p:grpSpPr>
        <p:sp>
          <p:nvSpPr>
            <p:cNvPr name="Freeform 7" id="7"/>
            <p:cNvSpPr/>
            <p:nvPr/>
          </p:nvSpPr>
          <p:spPr>
            <a:xfrm flipH="false" flipV="false" rot="0">
              <a:off x="0" y="0"/>
              <a:ext cx="1556532" cy="1567602"/>
            </a:xfrm>
            <a:custGeom>
              <a:avLst/>
              <a:gdLst/>
              <a:ahLst/>
              <a:cxnLst/>
              <a:rect r="r" b="b" t="t" l="l"/>
              <a:pathLst>
                <a:path h="1567602" w="1556532">
                  <a:moveTo>
                    <a:pt x="33478" y="0"/>
                  </a:moveTo>
                  <a:lnTo>
                    <a:pt x="1523054" y="0"/>
                  </a:lnTo>
                  <a:cubicBezTo>
                    <a:pt x="1531933" y="0"/>
                    <a:pt x="1540448" y="3527"/>
                    <a:pt x="1546727" y="9806"/>
                  </a:cubicBezTo>
                  <a:cubicBezTo>
                    <a:pt x="1553005" y="16084"/>
                    <a:pt x="1556532" y="24599"/>
                    <a:pt x="1556532" y="33478"/>
                  </a:cubicBezTo>
                  <a:lnTo>
                    <a:pt x="1556532" y="1534123"/>
                  </a:lnTo>
                  <a:cubicBezTo>
                    <a:pt x="1556532" y="1543002"/>
                    <a:pt x="1553005" y="1551518"/>
                    <a:pt x="1546727" y="1557796"/>
                  </a:cubicBezTo>
                  <a:cubicBezTo>
                    <a:pt x="1540448" y="1564074"/>
                    <a:pt x="1531933" y="1567602"/>
                    <a:pt x="1523054" y="1567602"/>
                  </a:cubicBezTo>
                  <a:lnTo>
                    <a:pt x="33478" y="1567602"/>
                  </a:lnTo>
                  <a:cubicBezTo>
                    <a:pt x="24599" y="1567602"/>
                    <a:pt x="16084" y="1564074"/>
                    <a:pt x="9806" y="1557796"/>
                  </a:cubicBezTo>
                  <a:cubicBezTo>
                    <a:pt x="3527" y="1551518"/>
                    <a:pt x="0" y="1543002"/>
                    <a:pt x="0" y="1534123"/>
                  </a:cubicBezTo>
                  <a:lnTo>
                    <a:pt x="0" y="33478"/>
                  </a:lnTo>
                  <a:cubicBezTo>
                    <a:pt x="0" y="24599"/>
                    <a:pt x="3527" y="16084"/>
                    <a:pt x="9806" y="9806"/>
                  </a:cubicBezTo>
                  <a:cubicBezTo>
                    <a:pt x="16084" y="3527"/>
                    <a:pt x="24599" y="0"/>
                    <a:pt x="33478" y="0"/>
                  </a:cubicBezTo>
                  <a:close/>
                </a:path>
              </a:pathLst>
            </a:custGeom>
            <a:solidFill>
              <a:srgbClr val="313030"/>
            </a:solidFill>
            <a:ln w="38100" cap="rnd">
              <a:solidFill>
                <a:srgbClr val="6A84FF"/>
              </a:solidFill>
              <a:prstDash val="solid"/>
              <a:round/>
            </a:ln>
          </p:spPr>
        </p:sp>
        <p:sp>
          <p:nvSpPr>
            <p:cNvPr name="TextBox 8" id="8"/>
            <p:cNvSpPr txBox="true"/>
            <p:nvPr/>
          </p:nvSpPr>
          <p:spPr>
            <a:xfrm>
              <a:off x="0" y="-57150"/>
              <a:ext cx="1556532" cy="1624752"/>
            </a:xfrm>
            <a:prstGeom prst="rect">
              <a:avLst/>
            </a:prstGeom>
          </p:spPr>
          <p:txBody>
            <a:bodyPr anchor="ctr" rtlCol="false" tIns="50800" lIns="50800" bIns="50800" rIns="50800"/>
            <a:lstStyle/>
            <a:p>
              <a:pPr algn="ctr" marL="0" indent="0" lvl="0">
                <a:lnSpc>
                  <a:spcPts val="2810"/>
                </a:lnSpc>
                <a:spcBef>
                  <a:spcPct val="0"/>
                </a:spcBef>
              </a:pPr>
            </a:p>
          </p:txBody>
        </p:sp>
      </p:grpSp>
      <p:grpSp>
        <p:nvGrpSpPr>
          <p:cNvPr name="Group 9" id="9"/>
          <p:cNvGrpSpPr/>
          <p:nvPr/>
        </p:nvGrpSpPr>
        <p:grpSpPr>
          <a:xfrm rot="0">
            <a:off x="12374882" y="3376745"/>
            <a:ext cx="5318763" cy="5356588"/>
            <a:chOff x="0" y="0"/>
            <a:chExt cx="1556532" cy="1567602"/>
          </a:xfrm>
        </p:grpSpPr>
        <p:sp>
          <p:nvSpPr>
            <p:cNvPr name="Freeform 10" id="10"/>
            <p:cNvSpPr/>
            <p:nvPr/>
          </p:nvSpPr>
          <p:spPr>
            <a:xfrm flipH="false" flipV="false" rot="0">
              <a:off x="0" y="0"/>
              <a:ext cx="1556532" cy="1567602"/>
            </a:xfrm>
            <a:custGeom>
              <a:avLst/>
              <a:gdLst/>
              <a:ahLst/>
              <a:cxnLst/>
              <a:rect r="r" b="b" t="t" l="l"/>
              <a:pathLst>
                <a:path h="1567602" w="1556532">
                  <a:moveTo>
                    <a:pt x="33478" y="0"/>
                  </a:moveTo>
                  <a:lnTo>
                    <a:pt x="1523054" y="0"/>
                  </a:lnTo>
                  <a:cubicBezTo>
                    <a:pt x="1531933" y="0"/>
                    <a:pt x="1540448" y="3527"/>
                    <a:pt x="1546727" y="9806"/>
                  </a:cubicBezTo>
                  <a:cubicBezTo>
                    <a:pt x="1553005" y="16084"/>
                    <a:pt x="1556532" y="24599"/>
                    <a:pt x="1556532" y="33478"/>
                  </a:cubicBezTo>
                  <a:lnTo>
                    <a:pt x="1556532" y="1534123"/>
                  </a:lnTo>
                  <a:cubicBezTo>
                    <a:pt x="1556532" y="1543002"/>
                    <a:pt x="1553005" y="1551518"/>
                    <a:pt x="1546727" y="1557796"/>
                  </a:cubicBezTo>
                  <a:cubicBezTo>
                    <a:pt x="1540448" y="1564074"/>
                    <a:pt x="1531933" y="1567602"/>
                    <a:pt x="1523054" y="1567602"/>
                  </a:cubicBezTo>
                  <a:lnTo>
                    <a:pt x="33478" y="1567602"/>
                  </a:lnTo>
                  <a:cubicBezTo>
                    <a:pt x="24599" y="1567602"/>
                    <a:pt x="16084" y="1564074"/>
                    <a:pt x="9806" y="1557796"/>
                  </a:cubicBezTo>
                  <a:cubicBezTo>
                    <a:pt x="3527" y="1551518"/>
                    <a:pt x="0" y="1543002"/>
                    <a:pt x="0" y="1534123"/>
                  </a:cubicBezTo>
                  <a:lnTo>
                    <a:pt x="0" y="33478"/>
                  </a:lnTo>
                  <a:cubicBezTo>
                    <a:pt x="0" y="24599"/>
                    <a:pt x="3527" y="16084"/>
                    <a:pt x="9806" y="9806"/>
                  </a:cubicBezTo>
                  <a:cubicBezTo>
                    <a:pt x="16084" y="3527"/>
                    <a:pt x="24599" y="0"/>
                    <a:pt x="33478" y="0"/>
                  </a:cubicBezTo>
                  <a:close/>
                </a:path>
              </a:pathLst>
            </a:custGeom>
            <a:solidFill>
              <a:srgbClr val="313030"/>
            </a:solidFill>
            <a:ln w="38100" cap="rnd">
              <a:solidFill>
                <a:srgbClr val="12A794"/>
              </a:solidFill>
              <a:prstDash val="solid"/>
              <a:round/>
            </a:ln>
          </p:spPr>
        </p:sp>
        <p:sp>
          <p:nvSpPr>
            <p:cNvPr name="TextBox 11" id="11"/>
            <p:cNvSpPr txBox="true"/>
            <p:nvPr/>
          </p:nvSpPr>
          <p:spPr>
            <a:xfrm>
              <a:off x="0" y="-57150"/>
              <a:ext cx="1556532" cy="1624752"/>
            </a:xfrm>
            <a:prstGeom prst="rect">
              <a:avLst/>
            </a:prstGeom>
          </p:spPr>
          <p:txBody>
            <a:bodyPr anchor="ctr" rtlCol="false" tIns="50800" lIns="50800" bIns="50800" rIns="50800"/>
            <a:lstStyle/>
            <a:p>
              <a:pPr algn="ctr" marL="0" indent="0" lvl="0">
                <a:lnSpc>
                  <a:spcPts val="2810"/>
                </a:lnSpc>
                <a:spcBef>
                  <a:spcPct val="0"/>
                </a:spcBef>
              </a:pPr>
            </a:p>
          </p:txBody>
        </p:sp>
      </p:grpSp>
      <p:grpSp>
        <p:nvGrpSpPr>
          <p:cNvPr name="Group 12" id="12"/>
          <p:cNvGrpSpPr/>
          <p:nvPr/>
        </p:nvGrpSpPr>
        <p:grpSpPr>
          <a:xfrm rot="0">
            <a:off x="594355" y="3376745"/>
            <a:ext cx="5318763" cy="5356588"/>
            <a:chOff x="0" y="0"/>
            <a:chExt cx="1556532" cy="1567602"/>
          </a:xfrm>
        </p:grpSpPr>
        <p:sp>
          <p:nvSpPr>
            <p:cNvPr name="Freeform 13" id="13"/>
            <p:cNvSpPr/>
            <p:nvPr/>
          </p:nvSpPr>
          <p:spPr>
            <a:xfrm flipH="false" flipV="false" rot="0">
              <a:off x="0" y="0"/>
              <a:ext cx="1556532" cy="1567602"/>
            </a:xfrm>
            <a:custGeom>
              <a:avLst/>
              <a:gdLst/>
              <a:ahLst/>
              <a:cxnLst/>
              <a:rect r="r" b="b" t="t" l="l"/>
              <a:pathLst>
                <a:path h="1567602" w="1556532">
                  <a:moveTo>
                    <a:pt x="33478" y="0"/>
                  </a:moveTo>
                  <a:lnTo>
                    <a:pt x="1523054" y="0"/>
                  </a:lnTo>
                  <a:cubicBezTo>
                    <a:pt x="1531933" y="0"/>
                    <a:pt x="1540448" y="3527"/>
                    <a:pt x="1546727" y="9806"/>
                  </a:cubicBezTo>
                  <a:cubicBezTo>
                    <a:pt x="1553005" y="16084"/>
                    <a:pt x="1556532" y="24599"/>
                    <a:pt x="1556532" y="33478"/>
                  </a:cubicBezTo>
                  <a:lnTo>
                    <a:pt x="1556532" y="1534123"/>
                  </a:lnTo>
                  <a:cubicBezTo>
                    <a:pt x="1556532" y="1543002"/>
                    <a:pt x="1553005" y="1551518"/>
                    <a:pt x="1546727" y="1557796"/>
                  </a:cubicBezTo>
                  <a:cubicBezTo>
                    <a:pt x="1540448" y="1564074"/>
                    <a:pt x="1531933" y="1567602"/>
                    <a:pt x="1523054" y="1567602"/>
                  </a:cubicBezTo>
                  <a:lnTo>
                    <a:pt x="33478" y="1567602"/>
                  </a:lnTo>
                  <a:cubicBezTo>
                    <a:pt x="24599" y="1567602"/>
                    <a:pt x="16084" y="1564074"/>
                    <a:pt x="9806" y="1557796"/>
                  </a:cubicBezTo>
                  <a:cubicBezTo>
                    <a:pt x="3527" y="1551518"/>
                    <a:pt x="0" y="1543002"/>
                    <a:pt x="0" y="1534123"/>
                  </a:cubicBezTo>
                  <a:lnTo>
                    <a:pt x="0" y="33478"/>
                  </a:lnTo>
                  <a:cubicBezTo>
                    <a:pt x="0" y="24599"/>
                    <a:pt x="3527" y="16084"/>
                    <a:pt x="9806" y="9806"/>
                  </a:cubicBezTo>
                  <a:cubicBezTo>
                    <a:pt x="16084" y="3527"/>
                    <a:pt x="24599" y="0"/>
                    <a:pt x="33478" y="0"/>
                  </a:cubicBezTo>
                  <a:close/>
                </a:path>
              </a:pathLst>
            </a:custGeom>
            <a:solidFill>
              <a:srgbClr val="313030"/>
            </a:solidFill>
            <a:ln w="38100" cap="rnd">
              <a:solidFill>
                <a:srgbClr val="FFDE59"/>
              </a:solidFill>
              <a:prstDash val="solid"/>
              <a:round/>
            </a:ln>
          </p:spPr>
        </p:sp>
        <p:sp>
          <p:nvSpPr>
            <p:cNvPr name="TextBox 14" id="14"/>
            <p:cNvSpPr txBox="true"/>
            <p:nvPr/>
          </p:nvSpPr>
          <p:spPr>
            <a:xfrm>
              <a:off x="0" y="-57150"/>
              <a:ext cx="1556532" cy="1624752"/>
            </a:xfrm>
            <a:prstGeom prst="rect">
              <a:avLst/>
            </a:prstGeom>
          </p:spPr>
          <p:txBody>
            <a:bodyPr anchor="ctr" rtlCol="false" tIns="50800" lIns="50800" bIns="50800" rIns="50800"/>
            <a:lstStyle/>
            <a:p>
              <a:pPr algn="ctr" marL="0" indent="0" lvl="0">
                <a:lnSpc>
                  <a:spcPts val="2810"/>
                </a:lnSpc>
                <a:spcBef>
                  <a:spcPct val="0"/>
                </a:spcBef>
              </a:pPr>
            </a:p>
          </p:txBody>
        </p:sp>
      </p:grpSp>
      <p:grpSp>
        <p:nvGrpSpPr>
          <p:cNvPr name="Group 15" id="15"/>
          <p:cNvGrpSpPr/>
          <p:nvPr/>
        </p:nvGrpSpPr>
        <p:grpSpPr>
          <a:xfrm rot="0">
            <a:off x="0" y="9921991"/>
            <a:ext cx="18288000" cy="384880"/>
            <a:chOff x="0" y="0"/>
            <a:chExt cx="4816593" cy="101368"/>
          </a:xfrm>
        </p:grpSpPr>
        <p:sp>
          <p:nvSpPr>
            <p:cNvPr name="Freeform 16" id="16"/>
            <p:cNvSpPr/>
            <p:nvPr/>
          </p:nvSpPr>
          <p:spPr>
            <a:xfrm flipH="false" flipV="false" rot="0">
              <a:off x="0" y="0"/>
              <a:ext cx="4816592" cy="101368"/>
            </a:xfrm>
            <a:custGeom>
              <a:avLst/>
              <a:gdLst/>
              <a:ahLst/>
              <a:cxnLst/>
              <a:rect r="r" b="b" t="t" l="l"/>
              <a:pathLst>
                <a:path h="101368" w="4816592">
                  <a:moveTo>
                    <a:pt x="0" y="0"/>
                  </a:moveTo>
                  <a:lnTo>
                    <a:pt x="4816592" y="0"/>
                  </a:lnTo>
                  <a:lnTo>
                    <a:pt x="4816592" y="101368"/>
                  </a:lnTo>
                  <a:lnTo>
                    <a:pt x="0" y="101368"/>
                  </a:lnTo>
                  <a:close/>
                </a:path>
              </a:pathLst>
            </a:custGeom>
            <a:solidFill>
              <a:srgbClr val="FCFAFF"/>
            </a:solidFill>
          </p:spPr>
        </p:sp>
        <p:sp>
          <p:nvSpPr>
            <p:cNvPr name="TextBox 17" id="17"/>
            <p:cNvSpPr txBox="true"/>
            <p:nvPr/>
          </p:nvSpPr>
          <p:spPr>
            <a:xfrm>
              <a:off x="0" y="-57150"/>
              <a:ext cx="4816593" cy="158518"/>
            </a:xfrm>
            <a:prstGeom prst="rect">
              <a:avLst/>
            </a:prstGeom>
          </p:spPr>
          <p:txBody>
            <a:bodyPr anchor="ctr" rtlCol="false" tIns="50800" lIns="50800" bIns="50800" rIns="50800"/>
            <a:lstStyle/>
            <a:p>
              <a:pPr algn="ctr">
                <a:lnSpc>
                  <a:spcPts val="2810"/>
                </a:lnSpc>
              </a:pPr>
            </a:p>
          </p:txBody>
        </p:sp>
      </p:grpSp>
      <p:sp>
        <p:nvSpPr>
          <p:cNvPr name="TextBox 18" id="18"/>
          <p:cNvSpPr txBox="true"/>
          <p:nvPr/>
        </p:nvSpPr>
        <p:spPr>
          <a:xfrm rot="0">
            <a:off x="5943047" y="519129"/>
            <a:ext cx="7695485"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MARCO TEÓRICO</a:t>
            </a:r>
          </a:p>
        </p:txBody>
      </p:sp>
      <p:sp>
        <p:nvSpPr>
          <p:cNvPr name="TextBox 19" id="19"/>
          <p:cNvSpPr txBox="true"/>
          <p:nvPr/>
        </p:nvSpPr>
        <p:spPr>
          <a:xfrm rot="0">
            <a:off x="1221469" y="3738395"/>
            <a:ext cx="4065681" cy="56197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MATRIZ CUADRADA</a:t>
            </a:r>
          </a:p>
        </p:txBody>
      </p:sp>
      <p:sp>
        <p:nvSpPr>
          <p:cNvPr name="TextBox 20" id="20"/>
          <p:cNvSpPr txBox="true"/>
          <p:nvPr/>
        </p:nvSpPr>
        <p:spPr>
          <a:xfrm rot="0">
            <a:off x="6997114" y="3738395"/>
            <a:ext cx="4293773" cy="56197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MATRIZ AUMENTADA</a:t>
            </a:r>
          </a:p>
        </p:txBody>
      </p:sp>
      <p:sp>
        <p:nvSpPr>
          <p:cNvPr name="TextBox 21" id="21"/>
          <p:cNvSpPr txBox="true"/>
          <p:nvPr/>
        </p:nvSpPr>
        <p:spPr>
          <a:xfrm rot="0">
            <a:off x="13078852" y="3738395"/>
            <a:ext cx="3910822" cy="56197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MATRIZ IDENTIDAD</a:t>
            </a:r>
          </a:p>
        </p:txBody>
      </p:sp>
      <p:sp>
        <p:nvSpPr>
          <p:cNvPr name="TextBox 22" id="22"/>
          <p:cNvSpPr txBox="true"/>
          <p:nvPr/>
        </p:nvSpPr>
        <p:spPr>
          <a:xfrm rot="0">
            <a:off x="1033650" y="4657558"/>
            <a:ext cx="4441318" cy="3086100"/>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Orden n×n. En nuestro caso, representa 3 paquetes interceptados para 3 llaves incógnitas.</a:t>
            </a:r>
          </a:p>
        </p:txBody>
      </p:sp>
      <p:sp>
        <p:nvSpPr>
          <p:cNvPr name="TextBox 23" id="23"/>
          <p:cNvSpPr txBox="true"/>
          <p:nvPr/>
        </p:nvSpPr>
        <p:spPr>
          <a:xfrm rot="0">
            <a:off x="6948597" y="4661799"/>
            <a:ext cx="4441318" cy="359092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Fusión de coeficientes y resultados del servidor para procesamiento en un solo bloque de memoria RAM.</a:t>
            </a:r>
          </a:p>
        </p:txBody>
      </p:sp>
      <p:sp>
        <p:nvSpPr>
          <p:cNvPr name="TextBox 24" id="24"/>
          <p:cNvSpPr txBox="true"/>
          <p:nvPr/>
        </p:nvSpPr>
        <p:spPr>
          <a:xfrm rot="0">
            <a:off x="12813604" y="4661799"/>
            <a:ext cx="4441318" cy="3086100"/>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Estado final del algoritmo de Gauss-Jordan donde cada fila expone directamente el valor de la llave.</a:t>
            </a:r>
          </a:p>
        </p:txBody>
      </p:sp>
      <p:sp>
        <p:nvSpPr>
          <p:cNvPr name="TextBox 25" id="25"/>
          <p:cNvSpPr txBox="true"/>
          <p:nvPr/>
        </p:nvSpPr>
        <p:spPr>
          <a:xfrm rot="0">
            <a:off x="1513898" y="2125710"/>
            <a:ext cx="6611473"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Tipos de Matrices</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65518" y="4710596"/>
            <a:ext cx="7156964" cy="5576404"/>
          </a:xfrm>
          <a:custGeom>
            <a:avLst/>
            <a:gdLst/>
            <a:ahLst/>
            <a:cxnLst/>
            <a:rect r="r" b="b" t="t" l="l"/>
            <a:pathLst>
              <a:path h="5576404" w="7156964">
                <a:moveTo>
                  <a:pt x="0" y="0"/>
                </a:moveTo>
                <a:lnTo>
                  <a:pt x="7156964" y="0"/>
                </a:lnTo>
                <a:lnTo>
                  <a:pt x="7156964" y="5576404"/>
                </a:lnTo>
                <a:lnTo>
                  <a:pt x="0" y="5576404"/>
                </a:lnTo>
                <a:lnTo>
                  <a:pt x="0" y="0"/>
                </a:lnTo>
                <a:close/>
              </a:path>
            </a:pathLst>
          </a:custGeom>
          <a:blipFill>
            <a:blip r:embed="rId4"/>
            <a:stretch>
              <a:fillRect l="-2261" t="0" r="-2692" b="-8771"/>
            </a:stretch>
          </a:blipFill>
        </p:spPr>
      </p:sp>
      <p:sp>
        <p:nvSpPr>
          <p:cNvPr name="TextBox 4" id="4"/>
          <p:cNvSpPr txBox="true"/>
          <p:nvPr/>
        </p:nvSpPr>
        <p:spPr>
          <a:xfrm rot="0">
            <a:off x="881517" y="111821"/>
            <a:ext cx="5483216"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Determinante</a:t>
            </a:r>
          </a:p>
        </p:txBody>
      </p:sp>
      <p:sp>
        <p:nvSpPr>
          <p:cNvPr name="TextBox 5" id="5"/>
          <p:cNvSpPr txBox="true"/>
          <p:nvPr/>
        </p:nvSpPr>
        <p:spPr>
          <a:xfrm rot="0">
            <a:off x="1028700" y="1138370"/>
            <a:ext cx="16111099" cy="157162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Sirve como indicador de viabilidad del sistema de cifrado, es decir representa un valor escalar único  que determina si un sistema de ecuaciones tiene una única solución</a:t>
            </a:r>
          </a:p>
        </p:txBody>
      </p:sp>
      <p:sp>
        <p:nvSpPr>
          <p:cNvPr name="TextBox 6" id="6"/>
          <p:cNvSpPr txBox="true"/>
          <p:nvPr/>
        </p:nvSpPr>
        <p:spPr>
          <a:xfrm rot="0">
            <a:off x="1028700" y="2895908"/>
            <a:ext cx="16111099" cy="1571625"/>
          </a:xfrm>
          <a:prstGeom prst="rect">
            <a:avLst/>
          </a:prstGeom>
        </p:spPr>
        <p:txBody>
          <a:bodyPr anchor="t" rtlCol="false" tIns="0" lIns="0" bIns="0" rIns="0">
            <a:spAutoFit/>
          </a:bodyPr>
          <a:lstStyle/>
          <a:p>
            <a:pPr algn="just">
              <a:lnSpc>
                <a:spcPts val="3986"/>
              </a:lnSpc>
            </a:pPr>
            <a:r>
              <a:rPr lang="en-US" sz="3322" b="true">
                <a:solidFill>
                  <a:srgbClr val="F0F2FD"/>
                </a:solidFill>
                <a:latin typeface="Codec Pro Ultra-Bold"/>
                <a:ea typeface="Codec Pro Ultra-Bold"/>
                <a:cs typeface="Codec Pro Ultra-Bold"/>
                <a:sym typeface="Codec Pro Ultra-Bold"/>
              </a:rPr>
              <a:t>Pa</a:t>
            </a:r>
            <a:r>
              <a:rPr lang="en-US" sz="3322" b="true">
                <a:solidFill>
                  <a:srgbClr val="F0F2FD"/>
                </a:solidFill>
                <a:latin typeface="Codec Pro Ultra-Bold"/>
                <a:ea typeface="Codec Pro Ultra-Bold"/>
                <a:cs typeface="Codec Pro Ultra-Bold"/>
                <a:sym typeface="Codec Pro Ultra-Bold"/>
              </a:rPr>
              <a:t>ra garantizar que las llaves cifradas (x, y, z) se puedan recuperar de forma única y que el sistema no sea indeterminado, el software calcula el determinante de la matriz A mediante la regla de Sarrus: </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921991"/>
            <a:ext cx="18288000" cy="384880"/>
            <a:chOff x="0" y="0"/>
            <a:chExt cx="4816593" cy="101368"/>
          </a:xfrm>
        </p:grpSpPr>
        <p:sp>
          <p:nvSpPr>
            <p:cNvPr name="Freeform 4" id="4"/>
            <p:cNvSpPr/>
            <p:nvPr/>
          </p:nvSpPr>
          <p:spPr>
            <a:xfrm flipH="false" flipV="false" rot="0">
              <a:off x="0" y="0"/>
              <a:ext cx="4816592" cy="101368"/>
            </a:xfrm>
            <a:custGeom>
              <a:avLst/>
              <a:gdLst/>
              <a:ahLst/>
              <a:cxnLst/>
              <a:rect r="r" b="b" t="t" l="l"/>
              <a:pathLst>
                <a:path h="101368" w="4816592">
                  <a:moveTo>
                    <a:pt x="0" y="0"/>
                  </a:moveTo>
                  <a:lnTo>
                    <a:pt x="4816592" y="0"/>
                  </a:lnTo>
                  <a:lnTo>
                    <a:pt x="4816592" y="101368"/>
                  </a:lnTo>
                  <a:lnTo>
                    <a:pt x="0" y="101368"/>
                  </a:lnTo>
                  <a:close/>
                </a:path>
              </a:pathLst>
            </a:custGeom>
            <a:solidFill>
              <a:srgbClr val="3CDDDF"/>
            </a:solidFill>
          </p:spPr>
        </p:sp>
        <p:sp>
          <p:nvSpPr>
            <p:cNvPr name="TextBox 5" id="5"/>
            <p:cNvSpPr txBox="true"/>
            <p:nvPr/>
          </p:nvSpPr>
          <p:spPr>
            <a:xfrm>
              <a:off x="0" y="-57150"/>
              <a:ext cx="4816593" cy="158518"/>
            </a:xfrm>
            <a:prstGeom prst="rect">
              <a:avLst/>
            </a:prstGeom>
          </p:spPr>
          <p:txBody>
            <a:bodyPr anchor="ctr" rtlCol="false" tIns="50800" lIns="50800" bIns="50800" rIns="50800"/>
            <a:lstStyle/>
            <a:p>
              <a:pPr algn="ctr">
                <a:lnSpc>
                  <a:spcPts val="2810"/>
                </a:lnSpc>
              </a:pPr>
            </a:p>
          </p:txBody>
        </p:sp>
      </p:grpSp>
      <p:sp>
        <p:nvSpPr>
          <p:cNvPr name="Freeform 6" id="6"/>
          <p:cNvSpPr/>
          <p:nvPr/>
        </p:nvSpPr>
        <p:spPr>
          <a:xfrm flipH="false" flipV="false" rot="0">
            <a:off x="3686515" y="3396758"/>
            <a:ext cx="10914969" cy="6176476"/>
          </a:xfrm>
          <a:custGeom>
            <a:avLst/>
            <a:gdLst/>
            <a:ahLst/>
            <a:cxnLst/>
            <a:rect r="r" b="b" t="t" l="l"/>
            <a:pathLst>
              <a:path h="6176476" w="10914969">
                <a:moveTo>
                  <a:pt x="0" y="0"/>
                </a:moveTo>
                <a:lnTo>
                  <a:pt x="10914970" y="0"/>
                </a:lnTo>
                <a:lnTo>
                  <a:pt x="10914970" y="6176475"/>
                </a:lnTo>
                <a:lnTo>
                  <a:pt x="0" y="6176475"/>
                </a:lnTo>
                <a:lnTo>
                  <a:pt x="0" y="0"/>
                </a:lnTo>
                <a:close/>
              </a:path>
            </a:pathLst>
          </a:custGeom>
          <a:blipFill>
            <a:blip r:embed="rId4"/>
            <a:stretch>
              <a:fillRect l="0" t="0" r="0" b="0"/>
            </a:stretch>
          </a:blipFill>
        </p:spPr>
      </p:sp>
      <p:sp>
        <p:nvSpPr>
          <p:cNvPr name="TextBox 7" id="7"/>
          <p:cNvSpPr txBox="true"/>
          <p:nvPr/>
        </p:nvSpPr>
        <p:spPr>
          <a:xfrm rot="0">
            <a:off x="1028700" y="971550"/>
            <a:ext cx="15923918" cy="2076450"/>
          </a:xfrm>
          <a:prstGeom prst="rect">
            <a:avLst/>
          </a:prstGeom>
        </p:spPr>
        <p:txBody>
          <a:bodyPr anchor="t" rtlCol="false" tIns="0" lIns="0" bIns="0" rIns="0">
            <a:spAutoFit/>
          </a:bodyPr>
          <a:lstStyle/>
          <a:p>
            <a:pPr algn="just">
              <a:lnSpc>
                <a:spcPts val="3986"/>
              </a:lnSpc>
            </a:pPr>
            <a:r>
              <a:rPr lang="en-US" sz="3322" b="true">
                <a:solidFill>
                  <a:srgbClr val="3CDDDF"/>
                </a:solidFill>
                <a:latin typeface="Codec Pro Ultra-Bold"/>
                <a:ea typeface="Codec Pro Ultra-Bold"/>
                <a:cs typeface="Codec Pro Ultra-Bold"/>
                <a:sym typeface="Codec Pro Ultra-Bold"/>
              </a:rPr>
              <a:t>¿POR QUÉ SE CALCULA?</a:t>
            </a:r>
          </a:p>
          <a:p>
            <a:pPr algn="just">
              <a:lnSpc>
                <a:spcPts val="3986"/>
              </a:lnSpc>
            </a:pPr>
          </a:p>
          <a:p>
            <a:pPr algn="just">
              <a:lnSpc>
                <a:spcPts val="3986"/>
              </a:lnSpc>
            </a:pPr>
            <a:r>
              <a:rPr lang="en-US" sz="3322" b="true">
                <a:solidFill>
                  <a:srgbClr val="F0F2FD"/>
                </a:solidFill>
                <a:latin typeface="Codec Pro Ultra-Bold"/>
                <a:ea typeface="Codec Pro Ultra-Bold"/>
                <a:cs typeface="Codec Pro Ultra-Bold"/>
                <a:sym typeface="Codec Pro Ultra-Bold"/>
              </a:rPr>
              <a:t>Antes de procesar, el software verifica si el sistema tiene solución única. Si </a:t>
            </a:r>
            <a:r>
              <a:rPr lang="en-US" sz="3322" b="true">
                <a:solidFill>
                  <a:srgbClr val="F0F2FD"/>
                </a:solidFill>
                <a:latin typeface="Codec Pro Ultra-Bold"/>
                <a:ea typeface="Codec Pro Ultra-Bold"/>
                <a:cs typeface="Codec Pro Ultra-Bold"/>
                <a:sym typeface="Codec Pro Ultra-Bold"/>
              </a:rPr>
              <a:t>det(A) ≠ 0, el canal es seguro para descifrar.</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85590" y="5900780"/>
            <a:ext cx="16193570" cy="3832593"/>
          </a:xfrm>
          <a:custGeom>
            <a:avLst/>
            <a:gdLst/>
            <a:ahLst/>
            <a:cxnLst/>
            <a:rect r="r" b="b" t="t" l="l"/>
            <a:pathLst>
              <a:path h="3832593" w="16193570">
                <a:moveTo>
                  <a:pt x="0" y="0"/>
                </a:moveTo>
                <a:lnTo>
                  <a:pt x="16193570" y="0"/>
                </a:lnTo>
                <a:lnTo>
                  <a:pt x="16193570" y="3832593"/>
                </a:lnTo>
                <a:lnTo>
                  <a:pt x="0" y="3832593"/>
                </a:lnTo>
                <a:lnTo>
                  <a:pt x="0" y="0"/>
                </a:lnTo>
                <a:close/>
              </a:path>
            </a:pathLst>
          </a:custGeom>
          <a:blipFill>
            <a:blip r:embed="rId4"/>
            <a:stretch>
              <a:fillRect l="0" t="0" r="0" b="0"/>
            </a:stretch>
          </a:blipFill>
        </p:spPr>
      </p:sp>
      <p:sp>
        <p:nvSpPr>
          <p:cNvPr name="TextBox 5" id="5"/>
          <p:cNvSpPr txBox="true"/>
          <p:nvPr/>
        </p:nvSpPr>
        <p:spPr>
          <a:xfrm rot="0">
            <a:off x="6611492" y="515994"/>
            <a:ext cx="5987274"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DESARROLLO</a:t>
            </a:r>
          </a:p>
        </p:txBody>
      </p:sp>
      <p:sp>
        <p:nvSpPr>
          <p:cNvPr name="TextBox 6" id="6"/>
          <p:cNvSpPr txBox="true"/>
          <p:nvPr/>
        </p:nvSpPr>
        <p:spPr>
          <a:xfrm rot="0">
            <a:off x="893623" y="2011364"/>
            <a:ext cx="9664405"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Planteamiento del Problema</a:t>
            </a:r>
          </a:p>
        </p:txBody>
      </p:sp>
      <p:sp>
        <p:nvSpPr>
          <p:cNvPr name="TextBox 7" id="7"/>
          <p:cNvSpPr txBox="true"/>
          <p:nvPr/>
        </p:nvSpPr>
        <p:spPr>
          <a:xfrm rot="0">
            <a:off x="1028700" y="3090905"/>
            <a:ext cx="16307350" cy="2486025"/>
          </a:xfrm>
          <a:prstGeom prst="rect">
            <a:avLst/>
          </a:prstGeom>
        </p:spPr>
        <p:txBody>
          <a:bodyPr anchor="t" rtlCol="false" tIns="0" lIns="0" bIns="0" rIns="0">
            <a:spAutoFit/>
          </a:bodyPr>
          <a:lstStyle/>
          <a:p>
            <a:pPr algn="just">
              <a:lnSpc>
                <a:spcPts val="3840"/>
              </a:lnSpc>
            </a:pPr>
            <a:r>
              <a:rPr lang="en-US" sz="3200" b="true">
                <a:solidFill>
                  <a:srgbClr val="F0F2FD"/>
                </a:solidFill>
                <a:latin typeface="Codec Pro Ultra-Bold"/>
                <a:ea typeface="Codec Pro Ultra-Bold"/>
                <a:cs typeface="Codec Pro Ultra-Bold"/>
                <a:sym typeface="Codec Pro Ultra-Bold"/>
              </a:rPr>
              <a:t>Un desarrollador de software de seguridad recibe tres paquetes de datos interceptados que han sido cifrados mediante una combinación de tres “llaves” x , y , z. Para recuperar el acceso al sistema, el desarrollador debe encontrar los valores exactos de las llaves resolviendo el siguiente sistema, donde los términos independientes representan los códigos de acceso generados por el servidor.</a:t>
            </a:r>
          </a:p>
        </p:txBody>
      </p:sp>
      <p:grpSp>
        <p:nvGrpSpPr>
          <p:cNvPr name="Group 8" id="8"/>
          <p:cNvGrpSpPr/>
          <p:nvPr/>
        </p:nvGrpSpPr>
        <p:grpSpPr>
          <a:xfrm rot="0">
            <a:off x="5689235" y="857965"/>
            <a:ext cx="599730" cy="630453"/>
            <a:chOff x="0" y="0"/>
            <a:chExt cx="773191" cy="812800"/>
          </a:xfrm>
        </p:grpSpPr>
        <p:sp>
          <p:nvSpPr>
            <p:cNvPr name="Freeform 9" id="9"/>
            <p:cNvSpPr/>
            <p:nvPr/>
          </p:nvSpPr>
          <p:spPr>
            <a:xfrm flipH="false" flipV="false" rot="0">
              <a:off x="0" y="0"/>
              <a:ext cx="773191" cy="812800"/>
            </a:xfrm>
            <a:custGeom>
              <a:avLst/>
              <a:gdLst/>
              <a:ahLst/>
              <a:cxnLst/>
              <a:rect r="r" b="b" t="t" l="l"/>
              <a:pathLst>
                <a:path h="812800" w="773191">
                  <a:moveTo>
                    <a:pt x="386595" y="0"/>
                  </a:moveTo>
                  <a:cubicBezTo>
                    <a:pt x="173085" y="0"/>
                    <a:pt x="0" y="181951"/>
                    <a:pt x="0" y="406400"/>
                  </a:cubicBezTo>
                  <a:cubicBezTo>
                    <a:pt x="0" y="630849"/>
                    <a:pt x="173085" y="812800"/>
                    <a:pt x="386595" y="812800"/>
                  </a:cubicBezTo>
                  <a:cubicBezTo>
                    <a:pt x="600106" y="812800"/>
                    <a:pt x="773191" y="630849"/>
                    <a:pt x="773191" y="406400"/>
                  </a:cubicBezTo>
                  <a:cubicBezTo>
                    <a:pt x="773191" y="181951"/>
                    <a:pt x="600106" y="0"/>
                    <a:pt x="386595" y="0"/>
                  </a:cubicBezTo>
                  <a:close/>
                </a:path>
              </a:pathLst>
            </a:custGeom>
            <a:solidFill>
              <a:srgbClr val="3CDDDF"/>
            </a:solidFill>
          </p:spPr>
        </p:sp>
        <p:sp>
          <p:nvSpPr>
            <p:cNvPr name="TextBox 10" id="10"/>
            <p:cNvSpPr txBox="true"/>
            <p:nvPr/>
          </p:nvSpPr>
          <p:spPr>
            <a:xfrm>
              <a:off x="72487" y="19050"/>
              <a:ext cx="628218" cy="717550"/>
            </a:xfrm>
            <a:prstGeom prst="rect">
              <a:avLst/>
            </a:prstGeom>
          </p:spPr>
          <p:txBody>
            <a:bodyPr anchor="ctr" rtlCol="false" tIns="50800" lIns="50800" bIns="50800" rIns="50800"/>
            <a:lstStyle/>
            <a:p>
              <a:pPr algn="ctr">
                <a:lnSpc>
                  <a:spcPts val="2810"/>
                </a:lnSpc>
              </a:pPr>
            </a:p>
          </p:txBody>
        </p:sp>
      </p:gr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97473" y="6082220"/>
            <a:ext cx="6119765" cy="2757672"/>
          </a:xfrm>
          <a:custGeom>
            <a:avLst/>
            <a:gdLst/>
            <a:ahLst/>
            <a:cxnLst/>
            <a:rect r="r" b="b" t="t" l="l"/>
            <a:pathLst>
              <a:path h="2757672" w="6119765">
                <a:moveTo>
                  <a:pt x="0" y="0"/>
                </a:moveTo>
                <a:lnTo>
                  <a:pt x="6119765" y="0"/>
                </a:lnTo>
                <a:lnTo>
                  <a:pt x="6119765" y="2757672"/>
                </a:lnTo>
                <a:lnTo>
                  <a:pt x="0" y="2757672"/>
                </a:lnTo>
                <a:lnTo>
                  <a:pt x="0" y="0"/>
                </a:lnTo>
                <a:close/>
              </a:path>
            </a:pathLst>
          </a:custGeom>
          <a:blipFill>
            <a:blip r:embed="rId4"/>
            <a:stretch>
              <a:fillRect l="0" t="0" r="0" b="0"/>
            </a:stretch>
          </a:blipFill>
        </p:spPr>
      </p:sp>
      <p:sp>
        <p:nvSpPr>
          <p:cNvPr name="Freeform 5" id="5"/>
          <p:cNvSpPr/>
          <p:nvPr/>
        </p:nvSpPr>
        <p:spPr>
          <a:xfrm flipH="false" flipV="false" rot="0">
            <a:off x="10940911" y="6082220"/>
            <a:ext cx="5423421" cy="2757672"/>
          </a:xfrm>
          <a:custGeom>
            <a:avLst/>
            <a:gdLst/>
            <a:ahLst/>
            <a:cxnLst/>
            <a:rect r="r" b="b" t="t" l="l"/>
            <a:pathLst>
              <a:path h="2757672" w="5423421">
                <a:moveTo>
                  <a:pt x="0" y="0"/>
                </a:moveTo>
                <a:lnTo>
                  <a:pt x="5423422" y="0"/>
                </a:lnTo>
                <a:lnTo>
                  <a:pt x="5423422" y="2757672"/>
                </a:lnTo>
                <a:lnTo>
                  <a:pt x="0" y="2757672"/>
                </a:lnTo>
                <a:lnTo>
                  <a:pt x="0" y="0"/>
                </a:lnTo>
                <a:close/>
              </a:path>
            </a:pathLst>
          </a:custGeom>
          <a:blipFill>
            <a:blip r:embed="rId5"/>
            <a:stretch>
              <a:fillRect l="0" t="0" r="0" b="0"/>
            </a:stretch>
          </a:blipFill>
        </p:spPr>
      </p:sp>
      <p:sp>
        <p:nvSpPr>
          <p:cNvPr name="TextBox 6" id="6"/>
          <p:cNvSpPr txBox="true"/>
          <p:nvPr/>
        </p:nvSpPr>
        <p:spPr>
          <a:xfrm rot="0">
            <a:off x="2289693"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Solución por Gauss-Jordan</a:t>
            </a:r>
          </a:p>
        </p:txBody>
      </p:sp>
      <p:sp>
        <p:nvSpPr>
          <p:cNvPr name="TextBox 7" id="7"/>
          <p:cNvSpPr txBox="true"/>
          <p:nvPr/>
        </p:nvSpPr>
        <p:spPr>
          <a:xfrm rot="0">
            <a:off x="1028700" y="2040786"/>
            <a:ext cx="14072958" cy="514350"/>
          </a:xfrm>
          <a:prstGeom prst="rect">
            <a:avLst/>
          </a:prstGeom>
        </p:spPr>
        <p:txBody>
          <a:bodyPr anchor="t" rtlCol="false" tIns="0" lIns="0" bIns="0" rIns="0">
            <a:spAutoFit/>
          </a:bodyPr>
          <a:lstStyle/>
          <a:p>
            <a:pPr algn="just">
              <a:lnSpc>
                <a:spcPts val="3840"/>
              </a:lnSpc>
            </a:pPr>
            <a:r>
              <a:rPr lang="en-US" sz="3200" b="true">
                <a:solidFill>
                  <a:srgbClr val="3CDDDF"/>
                </a:solidFill>
                <a:latin typeface="Poppins Ultra-Bold"/>
                <a:ea typeface="Poppins Ultra-Bold"/>
                <a:cs typeface="Poppins Ultra-Bold"/>
                <a:sym typeface="Poppins Ultra-Bold"/>
              </a:rPr>
              <a:t>OPERACIONES DE FILA: </a:t>
            </a:r>
            <a:r>
              <a:rPr lang="en-US" sz="3200" b="true">
                <a:solidFill>
                  <a:srgbClr val="FCFAFF"/>
                </a:solidFill>
                <a:latin typeface="Poppins Ultra-Bold"/>
                <a:ea typeface="Poppins Ultra-Bold"/>
                <a:cs typeface="Poppins Ultra-Bold"/>
                <a:sym typeface="Poppins Ultra-Bold"/>
              </a:rPr>
              <a:t>Tran</a:t>
            </a:r>
            <a:r>
              <a:rPr lang="en-US" sz="3200" b="true">
                <a:solidFill>
                  <a:srgbClr val="F0F2FD"/>
                </a:solidFill>
                <a:latin typeface="Poppins Ultra-Bold"/>
                <a:ea typeface="Poppins Ultra-Bold"/>
                <a:cs typeface="Poppins Ultra-Bold"/>
                <a:sym typeface="Poppins Ultra-Bold"/>
              </a:rPr>
              <a:t>sformación a Matriz Aumentada:</a:t>
            </a:r>
          </a:p>
        </p:txBody>
      </p:sp>
      <p:sp>
        <p:nvSpPr>
          <p:cNvPr name="TextBox 8" id="8"/>
          <p:cNvSpPr txBox="true"/>
          <p:nvPr/>
        </p:nvSpPr>
        <p:spPr>
          <a:xfrm rot="0">
            <a:off x="1497473" y="3777170"/>
            <a:ext cx="6506998" cy="1514475"/>
          </a:xfrm>
          <a:prstGeom prst="rect">
            <a:avLst/>
          </a:prstGeom>
        </p:spPr>
        <p:txBody>
          <a:bodyPr anchor="t" rtlCol="false" tIns="0" lIns="0" bIns="0" rIns="0">
            <a:spAutoFit/>
          </a:bodyPr>
          <a:lstStyle/>
          <a:p>
            <a:pPr algn="just">
              <a:lnSpc>
                <a:spcPts val="3840"/>
              </a:lnSpc>
            </a:pPr>
            <a:r>
              <a:rPr lang="en-US" sz="3200" b="true">
                <a:solidFill>
                  <a:srgbClr val="F0F2FD"/>
                </a:solidFill>
                <a:latin typeface="Codec Pro Ultra-Bold"/>
                <a:ea typeface="Codec Pro Ultra-Bold"/>
                <a:cs typeface="Codec Pro Ultra-Bold"/>
                <a:sym typeface="Codec Pro Ultra-Bold"/>
              </a:rPr>
              <a:t>Lo primero que hacemos es escribir esto en forma de  matriz aumentada:</a:t>
            </a:r>
          </a:p>
        </p:txBody>
      </p:sp>
      <p:sp>
        <p:nvSpPr>
          <p:cNvPr name="TextBox 9" id="9"/>
          <p:cNvSpPr txBox="true"/>
          <p:nvPr/>
        </p:nvSpPr>
        <p:spPr>
          <a:xfrm rot="0">
            <a:off x="9834994" y="3310070"/>
            <a:ext cx="7635255" cy="2486025"/>
          </a:xfrm>
          <a:prstGeom prst="rect">
            <a:avLst/>
          </a:prstGeom>
        </p:spPr>
        <p:txBody>
          <a:bodyPr anchor="t" rtlCol="false" tIns="0" lIns="0" bIns="0" rIns="0">
            <a:spAutoFit/>
          </a:bodyPr>
          <a:lstStyle/>
          <a:p>
            <a:pPr algn="l" marL="690881" indent="-345440" lvl="1">
              <a:lnSpc>
                <a:spcPts val="3840"/>
              </a:lnSpc>
              <a:buAutoNum type="arabicPeriod" startAt="1"/>
            </a:pPr>
            <a:r>
              <a:rPr lang="en-US" b="true" sz="3200">
                <a:solidFill>
                  <a:srgbClr val="F0F2FD"/>
                </a:solidFill>
                <a:latin typeface="Codec Pro Ultra-Bold"/>
                <a:ea typeface="Codec Pro Ultra-Bold"/>
                <a:cs typeface="Codec Pro Ultra-Bold"/>
                <a:sym typeface="Codec Pro Ultra-Bold"/>
              </a:rPr>
              <a:t>Necesitamos que el primer número de la primera fila sea un 1. Para lograrlo de la forma más rápida, multiplicamos F1 por ½ quedando asi la matriz:</a:t>
            </a:r>
          </a:p>
        </p:txBody>
      </p:sp>
      <p:sp>
        <p:nvSpPr>
          <p:cNvPr name="AutoShape 10" id="10"/>
          <p:cNvSpPr/>
          <p:nvPr/>
        </p:nvSpPr>
        <p:spPr>
          <a:xfrm>
            <a:off x="9163050" y="3212361"/>
            <a:ext cx="0" cy="6492240"/>
          </a:xfrm>
          <a:prstGeom prst="line">
            <a:avLst/>
          </a:prstGeom>
          <a:ln cap="flat" w="38100">
            <a:solidFill>
              <a:srgbClr val="FFFFFF"/>
            </a:solidFill>
            <a:prstDash val="solid"/>
            <a:headEnd type="none" len="sm" w="sm"/>
            <a:tailEnd type="none" len="sm" w="sm"/>
          </a:ln>
        </p:spPr>
      </p:sp>
      <p:grpSp>
        <p:nvGrpSpPr>
          <p:cNvPr name="Group 11" id="11"/>
          <p:cNvGrpSpPr/>
          <p:nvPr/>
        </p:nvGrpSpPr>
        <p:grpSpPr>
          <a:xfrm rot="0">
            <a:off x="0" y="9921991"/>
            <a:ext cx="18288000" cy="384880"/>
            <a:chOff x="0" y="0"/>
            <a:chExt cx="4816593" cy="101368"/>
          </a:xfrm>
        </p:grpSpPr>
        <p:sp>
          <p:nvSpPr>
            <p:cNvPr name="Freeform 12" id="12"/>
            <p:cNvSpPr/>
            <p:nvPr/>
          </p:nvSpPr>
          <p:spPr>
            <a:xfrm flipH="false" flipV="false" rot="0">
              <a:off x="0" y="0"/>
              <a:ext cx="4816592" cy="101368"/>
            </a:xfrm>
            <a:custGeom>
              <a:avLst/>
              <a:gdLst/>
              <a:ahLst/>
              <a:cxnLst/>
              <a:rect r="r" b="b" t="t" l="l"/>
              <a:pathLst>
                <a:path h="101368" w="4816592">
                  <a:moveTo>
                    <a:pt x="0" y="0"/>
                  </a:moveTo>
                  <a:lnTo>
                    <a:pt x="4816592" y="0"/>
                  </a:lnTo>
                  <a:lnTo>
                    <a:pt x="4816592" y="101368"/>
                  </a:lnTo>
                  <a:lnTo>
                    <a:pt x="0" y="101368"/>
                  </a:lnTo>
                  <a:close/>
                </a:path>
              </a:pathLst>
            </a:custGeom>
            <a:solidFill>
              <a:srgbClr val="FCFAFF"/>
            </a:solidFill>
          </p:spPr>
        </p:sp>
        <p:sp>
          <p:nvSpPr>
            <p:cNvPr name="TextBox 13" id="13"/>
            <p:cNvSpPr txBox="true"/>
            <p:nvPr/>
          </p:nvSpPr>
          <p:spPr>
            <a:xfrm>
              <a:off x="0" y="-57150"/>
              <a:ext cx="4816593" cy="158518"/>
            </a:xfrm>
            <a:prstGeom prst="rect">
              <a:avLst/>
            </a:prstGeom>
          </p:spPr>
          <p:txBody>
            <a:bodyPr anchor="ctr" rtlCol="false" tIns="50800" lIns="50800" bIns="50800" rIns="50800"/>
            <a:lstStyle/>
            <a:p>
              <a:pPr algn="ctr">
                <a:lnSpc>
                  <a:spcPts val="2810"/>
                </a:lnSpc>
              </a:pPr>
            </a:p>
          </p:txBody>
        </p:sp>
      </p:gr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440348" y="5853208"/>
            <a:ext cx="6394142" cy="2697166"/>
          </a:xfrm>
          <a:custGeom>
            <a:avLst/>
            <a:gdLst/>
            <a:ahLst/>
            <a:cxnLst/>
            <a:rect r="r" b="b" t="t" l="l"/>
            <a:pathLst>
              <a:path h="2697166" w="6394142">
                <a:moveTo>
                  <a:pt x="0" y="0"/>
                </a:moveTo>
                <a:lnTo>
                  <a:pt x="6394142" y="0"/>
                </a:lnTo>
                <a:lnTo>
                  <a:pt x="6394142" y="2697166"/>
                </a:lnTo>
                <a:lnTo>
                  <a:pt x="0" y="2697166"/>
                </a:lnTo>
                <a:lnTo>
                  <a:pt x="0" y="0"/>
                </a:lnTo>
                <a:close/>
              </a:path>
            </a:pathLst>
          </a:custGeom>
          <a:blipFill>
            <a:blip r:embed="rId4"/>
            <a:stretch>
              <a:fillRect l="0" t="0" r="0" b="0"/>
            </a:stretch>
          </a:blipFill>
          <a:ln w="38100" cap="sq">
            <a:solidFill>
              <a:srgbClr val="3CDDDF"/>
            </a:solidFill>
            <a:prstDash val="solid"/>
            <a:miter/>
          </a:ln>
        </p:spPr>
      </p:sp>
      <p:sp>
        <p:nvSpPr>
          <p:cNvPr name="Freeform 5" id="5"/>
          <p:cNvSpPr/>
          <p:nvPr/>
        </p:nvSpPr>
        <p:spPr>
          <a:xfrm flipH="false" flipV="false" rot="0">
            <a:off x="267189" y="3200276"/>
            <a:ext cx="10640302" cy="6411999"/>
          </a:xfrm>
          <a:custGeom>
            <a:avLst/>
            <a:gdLst/>
            <a:ahLst/>
            <a:cxnLst/>
            <a:rect r="r" b="b" t="t" l="l"/>
            <a:pathLst>
              <a:path h="6411999" w="10640302">
                <a:moveTo>
                  <a:pt x="0" y="0"/>
                </a:moveTo>
                <a:lnTo>
                  <a:pt x="10640303" y="0"/>
                </a:lnTo>
                <a:lnTo>
                  <a:pt x="10640303" y="6411999"/>
                </a:lnTo>
                <a:lnTo>
                  <a:pt x="0" y="6411999"/>
                </a:lnTo>
                <a:lnTo>
                  <a:pt x="0" y="0"/>
                </a:lnTo>
                <a:close/>
              </a:path>
            </a:pathLst>
          </a:custGeom>
          <a:blipFill>
            <a:blip r:embed="rId5"/>
            <a:stretch>
              <a:fillRect l="0" t="0" r="0" b="0"/>
            </a:stretch>
          </a:blipFill>
        </p:spPr>
      </p:sp>
      <p:sp>
        <p:nvSpPr>
          <p:cNvPr name="TextBox 6" id="6"/>
          <p:cNvSpPr txBox="true"/>
          <p:nvPr/>
        </p:nvSpPr>
        <p:spPr>
          <a:xfrm rot="0">
            <a:off x="2289693"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Solución por Gauss-Jordan</a:t>
            </a:r>
          </a:p>
        </p:txBody>
      </p:sp>
      <p:sp>
        <p:nvSpPr>
          <p:cNvPr name="TextBox 7" id="7"/>
          <p:cNvSpPr txBox="true"/>
          <p:nvPr/>
        </p:nvSpPr>
        <p:spPr>
          <a:xfrm rot="0">
            <a:off x="807473" y="1723205"/>
            <a:ext cx="16673054" cy="986790"/>
          </a:xfrm>
          <a:prstGeom prst="rect">
            <a:avLst/>
          </a:prstGeom>
        </p:spPr>
        <p:txBody>
          <a:bodyPr anchor="t" rtlCol="false" tIns="0" lIns="0" bIns="0" rIns="0">
            <a:spAutoFit/>
          </a:bodyPr>
          <a:lstStyle/>
          <a:p>
            <a:pPr algn="l" marL="647702" indent="-323851" lvl="1">
              <a:lnSpc>
                <a:spcPts val="3600"/>
              </a:lnSpc>
              <a:buAutoNum type="arabicPeriod" startAt="1"/>
            </a:pPr>
            <a:r>
              <a:rPr lang="en-US" b="true" sz="3000">
                <a:solidFill>
                  <a:srgbClr val="F0F2FD"/>
                </a:solidFill>
                <a:latin typeface="Codec Pro Ultra-Bold"/>
                <a:ea typeface="Codec Pro Ultra-Bold"/>
                <a:cs typeface="Codec Pro Ultra-Bold"/>
                <a:sym typeface="Codec Pro Ultra-Bold"/>
              </a:rPr>
              <a:t>Ahora que tenemos nuestro pivote (el 1 en la esquina superior), lo usamos para eliminar el 4 de la Fila 2 (F2) y el 3 de la Fila 3 (F3). </a:t>
            </a:r>
          </a:p>
        </p:txBody>
      </p:sp>
      <p:sp>
        <p:nvSpPr>
          <p:cNvPr name="TextBox 8" id="8"/>
          <p:cNvSpPr txBox="true"/>
          <p:nvPr/>
        </p:nvSpPr>
        <p:spPr>
          <a:xfrm rot="0">
            <a:off x="12174466" y="4621530"/>
            <a:ext cx="4925905" cy="986790"/>
          </a:xfrm>
          <a:prstGeom prst="rect">
            <a:avLst/>
          </a:prstGeom>
        </p:spPr>
        <p:txBody>
          <a:bodyPr anchor="t" rtlCol="false" tIns="0" lIns="0" bIns="0" rIns="0">
            <a:spAutoFit/>
          </a:bodyPr>
          <a:lstStyle/>
          <a:p>
            <a:pPr algn="l">
              <a:lnSpc>
                <a:spcPts val="3600"/>
              </a:lnSpc>
            </a:pPr>
            <a:r>
              <a:rPr lang="en-US" sz="3000" b="true">
                <a:solidFill>
                  <a:srgbClr val="F0F2FD"/>
                </a:solidFill>
                <a:latin typeface="Codec Pro Ultra-Bold"/>
                <a:ea typeface="Codec Pro Ultra-Bold"/>
                <a:cs typeface="Codec Pro Ultra-Bold"/>
                <a:sym typeface="Codec Pro Ultra-Bold"/>
              </a:rPr>
              <a:t>Reemplazamos los valores en la matriz:</a:t>
            </a:r>
          </a:p>
        </p:txBody>
      </p:sp>
      <p:sp>
        <p:nvSpPr>
          <p:cNvPr name="AutoShape 9" id="9"/>
          <p:cNvSpPr/>
          <p:nvPr/>
        </p:nvSpPr>
        <p:spPr>
          <a:xfrm>
            <a:off x="11173920" y="3200276"/>
            <a:ext cx="0" cy="6492240"/>
          </a:xfrm>
          <a:prstGeom prst="line">
            <a:avLst/>
          </a:prstGeom>
          <a:ln cap="flat" w="38100">
            <a:solidFill>
              <a:srgbClr val="FFFFFF"/>
            </a:solidFill>
            <a:prstDash val="solid"/>
            <a:headEnd type="none" len="sm" w="sm"/>
            <a:tailEnd type="none" len="sm" w="sm"/>
          </a:ln>
        </p:spPr>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60851" y="5143500"/>
            <a:ext cx="6338339" cy="2697166"/>
          </a:xfrm>
          <a:custGeom>
            <a:avLst/>
            <a:gdLst/>
            <a:ahLst/>
            <a:cxnLst/>
            <a:rect r="r" b="b" t="t" l="l"/>
            <a:pathLst>
              <a:path h="2697166" w="6338339">
                <a:moveTo>
                  <a:pt x="0" y="0"/>
                </a:moveTo>
                <a:lnTo>
                  <a:pt x="6338339" y="0"/>
                </a:lnTo>
                <a:lnTo>
                  <a:pt x="6338339" y="2697166"/>
                </a:lnTo>
                <a:lnTo>
                  <a:pt x="0" y="2697166"/>
                </a:lnTo>
                <a:lnTo>
                  <a:pt x="0" y="0"/>
                </a:lnTo>
                <a:close/>
              </a:path>
            </a:pathLst>
          </a:custGeom>
          <a:blipFill>
            <a:blip r:embed="rId4"/>
            <a:stretch>
              <a:fillRect l="0" t="0" r="0" b="0"/>
            </a:stretch>
          </a:blipFill>
          <a:ln w="38100" cap="sq">
            <a:solidFill>
              <a:srgbClr val="FFFFFF"/>
            </a:solidFill>
            <a:prstDash val="solid"/>
            <a:miter/>
          </a:ln>
        </p:spPr>
      </p:sp>
      <p:sp>
        <p:nvSpPr>
          <p:cNvPr name="Freeform 5" id="5"/>
          <p:cNvSpPr/>
          <p:nvPr/>
        </p:nvSpPr>
        <p:spPr>
          <a:xfrm flipH="false" flipV="false" rot="0">
            <a:off x="1756984" y="4908134"/>
            <a:ext cx="5693655" cy="3167899"/>
          </a:xfrm>
          <a:custGeom>
            <a:avLst/>
            <a:gdLst/>
            <a:ahLst/>
            <a:cxnLst/>
            <a:rect r="r" b="b" t="t" l="l"/>
            <a:pathLst>
              <a:path h="3167899" w="5693655">
                <a:moveTo>
                  <a:pt x="0" y="0"/>
                </a:moveTo>
                <a:lnTo>
                  <a:pt x="5693655" y="0"/>
                </a:lnTo>
                <a:lnTo>
                  <a:pt x="5693655" y="3167898"/>
                </a:lnTo>
                <a:lnTo>
                  <a:pt x="0" y="3167898"/>
                </a:lnTo>
                <a:lnTo>
                  <a:pt x="0" y="0"/>
                </a:lnTo>
                <a:close/>
              </a:path>
            </a:pathLst>
          </a:custGeom>
          <a:blipFill>
            <a:blip r:embed="rId5"/>
            <a:stretch>
              <a:fillRect l="0" t="0" r="0" b="0"/>
            </a:stretch>
          </a:blipFill>
        </p:spPr>
      </p:sp>
      <p:sp>
        <p:nvSpPr>
          <p:cNvPr name="TextBox 6" id="6"/>
          <p:cNvSpPr txBox="true"/>
          <p:nvPr/>
        </p:nvSpPr>
        <p:spPr>
          <a:xfrm rot="0">
            <a:off x="2289693"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Solución por Gauss-Jordan</a:t>
            </a:r>
          </a:p>
        </p:txBody>
      </p:sp>
      <p:sp>
        <p:nvSpPr>
          <p:cNvPr name="TextBox 7" id="7"/>
          <p:cNvSpPr txBox="true"/>
          <p:nvPr/>
        </p:nvSpPr>
        <p:spPr>
          <a:xfrm rot="0">
            <a:off x="807473" y="1723205"/>
            <a:ext cx="16451827" cy="986790"/>
          </a:xfrm>
          <a:prstGeom prst="rect">
            <a:avLst/>
          </a:prstGeom>
        </p:spPr>
        <p:txBody>
          <a:bodyPr anchor="t" rtlCol="false" tIns="0" lIns="0" bIns="0" rIns="0">
            <a:spAutoFit/>
          </a:bodyPr>
          <a:lstStyle/>
          <a:p>
            <a:pPr algn="l" marL="647702" indent="-323851" lvl="1">
              <a:lnSpc>
                <a:spcPts val="3600"/>
              </a:lnSpc>
              <a:buAutoNum type="arabicPeriod" startAt="1"/>
            </a:pPr>
            <a:r>
              <a:rPr lang="en-US" b="true" sz="3000">
                <a:solidFill>
                  <a:srgbClr val="F0F2FD"/>
                </a:solidFill>
                <a:latin typeface="Codec Pro Ultra-Bold"/>
                <a:ea typeface="Codec Pro Ultra-Bold"/>
                <a:cs typeface="Codec Pro Ultra-Bold"/>
                <a:sym typeface="Codec Pro Ultra-Bold"/>
              </a:rPr>
              <a:t>Ahora necesitamos que el centro de la matriz sea un 1. Actualmente hay un -3 en la posición (2,2). Para volverlo un 1, multiplicamos la Fila 2 (F2) por -1/3 (dividir entre -3).  </a:t>
            </a:r>
          </a:p>
        </p:txBody>
      </p:sp>
      <p:sp>
        <p:nvSpPr>
          <p:cNvPr name="TextBox 8" id="8"/>
          <p:cNvSpPr txBox="true"/>
          <p:nvPr/>
        </p:nvSpPr>
        <p:spPr>
          <a:xfrm rot="0">
            <a:off x="11197523" y="3973136"/>
            <a:ext cx="5264995" cy="521970"/>
          </a:xfrm>
          <a:prstGeom prst="rect">
            <a:avLst/>
          </a:prstGeom>
        </p:spPr>
        <p:txBody>
          <a:bodyPr anchor="t" rtlCol="false" tIns="0" lIns="0" bIns="0" rIns="0">
            <a:spAutoFit/>
          </a:bodyPr>
          <a:lstStyle/>
          <a:p>
            <a:pPr algn="l">
              <a:lnSpc>
                <a:spcPts val="3600"/>
              </a:lnSpc>
            </a:pPr>
            <a:r>
              <a:rPr lang="en-US" sz="3000" b="true">
                <a:solidFill>
                  <a:srgbClr val="F0F2FD"/>
                </a:solidFill>
                <a:latin typeface="Codec Pro Ultra-Bold"/>
                <a:ea typeface="Codec Pro Ultra-Bold"/>
                <a:cs typeface="Codec Pro Ultra-Bold"/>
                <a:sym typeface="Codec Pro Ultra-Bold"/>
              </a:rPr>
              <a:t>Quedandonos la matriz asi:</a:t>
            </a:r>
          </a:p>
        </p:txBody>
      </p:sp>
      <p:sp>
        <p:nvSpPr>
          <p:cNvPr name="AutoShape 9" id="9"/>
          <p:cNvSpPr/>
          <p:nvPr/>
        </p:nvSpPr>
        <p:spPr>
          <a:xfrm>
            <a:off x="9163050" y="3245963"/>
            <a:ext cx="0" cy="6492240"/>
          </a:xfrm>
          <a:prstGeom prst="line">
            <a:avLst/>
          </a:prstGeom>
          <a:ln cap="flat" w="38100">
            <a:solidFill>
              <a:srgbClr val="FFFFFF"/>
            </a:solidFill>
            <a:prstDash val="solid"/>
            <a:headEnd type="none" len="sm" w="sm"/>
            <a:tailEnd type="none" len="sm" w="sm"/>
          </a:ln>
        </p:spPr>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466348" y="4717231"/>
            <a:ext cx="4648294" cy="2189222"/>
          </a:xfrm>
          <a:custGeom>
            <a:avLst/>
            <a:gdLst/>
            <a:ahLst/>
            <a:cxnLst/>
            <a:rect r="r" b="b" t="t" l="l"/>
            <a:pathLst>
              <a:path h="2189222" w="4648294">
                <a:moveTo>
                  <a:pt x="0" y="0"/>
                </a:moveTo>
                <a:lnTo>
                  <a:pt x="4648295" y="0"/>
                </a:lnTo>
                <a:lnTo>
                  <a:pt x="4648295" y="2189222"/>
                </a:lnTo>
                <a:lnTo>
                  <a:pt x="0" y="2189222"/>
                </a:lnTo>
                <a:lnTo>
                  <a:pt x="0" y="0"/>
                </a:lnTo>
                <a:close/>
              </a:path>
            </a:pathLst>
          </a:custGeom>
          <a:blipFill>
            <a:blip r:embed="rId4"/>
            <a:stretch>
              <a:fillRect l="-3289" t="0" r="-49435" b="-10004"/>
            </a:stretch>
          </a:blipFill>
          <a:ln w="38100" cap="sq">
            <a:solidFill>
              <a:srgbClr val="00CE21"/>
            </a:solidFill>
            <a:prstDash val="solid"/>
            <a:miter/>
          </a:ln>
        </p:spPr>
      </p:sp>
      <p:grpSp>
        <p:nvGrpSpPr>
          <p:cNvPr name="Group 5" id="5"/>
          <p:cNvGrpSpPr/>
          <p:nvPr/>
        </p:nvGrpSpPr>
        <p:grpSpPr>
          <a:xfrm rot="0">
            <a:off x="0" y="9921991"/>
            <a:ext cx="18288000" cy="384880"/>
            <a:chOff x="0" y="0"/>
            <a:chExt cx="4816593" cy="101368"/>
          </a:xfrm>
        </p:grpSpPr>
        <p:sp>
          <p:nvSpPr>
            <p:cNvPr name="Freeform 6" id="6"/>
            <p:cNvSpPr/>
            <p:nvPr/>
          </p:nvSpPr>
          <p:spPr>
            <a:xfrm flipH="false" flipV="false" rot="0">
              <a:off x="0" y="0"/>
              <a:ext cx="4816592" cy="101368"/>
            </a:xfrm>
            <a:custGeom>
              <a:avLst/>
              <a:gdLst/>
              <a:ahLst/>
              <a:cxnLst/>
              <a:rect r="r" b="b" t="t" l="l"/>
              <a:pathLst>
                <a:path h="101368" w="4816592">
                  <a:moveTo>
                    <a:pt x="0" y="0"/>
                  </a:moveTo>
                  <a:lnTo>
                    <a:pt x="4816592" y="0"/>
                  </a:lnTo>
                  <a:lnTo>
                    <a:pt x="4816592" y="101368"/>
                  </a:lnTo>
                  <a:lnTo>
                    <a:pt x="0" y="101368"/>
                  </a:lnTo>
                  <a:close/>
                </a:path>
              </a:pathLst>
            </a:custGeom>
            <a:solidFill>
              <a:srgbClr val="FCFAFF"/>
            </a:solidFill>
          </p:spPr>
        </p:sp>
        <p:sp>
          <p:nvSpPr>
            <p:cNvPr name="TextBox 7" id="7"/>
            <p:cNvSpPr txBox="true"/>
            <p:nvPr/>
          </p:nvSpPr>
          <p:spPr>
            <a:xfrm>
              <a:off x="0" y="-57150"/>
              <a:ext cx="4816593" cy="158518"/>
            </a:xfrm>
            <a:prstGeom prst="rect">
              <a:avLst/>
            </a:prstGeom>
          </p:spPr>
          <p:txBody>
            <a:bodyPr anchor="ctr" rtlCol="false" tIns="50800" lIns="50800" bIns="50800" rIns="50800"/>
            <a:lstStyle/>
            <a:p>
              <a:pPr algn="ctr">
                <a:lnSpc>
                  <a:spcPts val="2810"/>
                </a:lnSpc>
              </a:pPr>
            </a:p>
          </p:txBody>
        </p:sp>
      </p:grpSp>
      <p:sp>
        <p:nvSpPr>
          <p:cNvPr name="Freeform 8" id="8"/>
          <p:cNvSpPr/>
          <p:nvPr/>
        </p:nvSpPr>
        <p:spPr>
          <a:xfrm flipH="false" flipV="false" rot="0">
            <a:off x="341818" y="3040403"/>
            <a:ext cx="10485081" cy="6217897"/>
          </a:xfrm>
          <a:custGeom>
            <a:avLst/>
            <a:gdLst/>
            <a:ahLst/>
            <a:cxnLst/>
            <a:rect r="r" b="b" t="t" l="l"/>
            <a:pathLst>
              <a:path h="6217897" w="10485081">
                <a:moveTo>
                  <a:pt x="0" y="0"/>
                </a:moveTo>
                <a:lnTo>
                  <a:pt x="10485081" y="0"/>
                </a:lnTo>
                <a:lnTo>
                  <a:pt x="10485081" y="6217897"/>
                </a:lnTo>
                <a:lnTo>
                  <a:pt x="0" y="6217897"/>
                </a:lnTo>
                <a:lnTo>
                  <a:pt x="0" y="0"/>
                </a:lnTo>
                <a:close/>
              </a:path>
            </a:pathLst>
          </a:custGeom>
          <a:blipFill>
            <a:blip r:embed="rId5"/>
            <a:stretch>
              <a:fillRect l="0" t="0" r="0" b="0"/>
            </a:stretch>
          </a:blipFill>
        </p:spPr>
      </p:sp>
      <p:sp>
        <p:nvSpPr>
          <p:cNvPr name="TextBox 9" id="9"/>
          <p:cNvSpPr txBox="true"/>
          <p:nvPr/>
        </p:nvSpPr>
        <p:spPr>
          <a:xfrm rot="0">
            <a:off x="2289693"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Solución por Gauss-Jordan</a:t>
            </a:r>
          </a:p>
        </p:txBody>
      </p:sp>
      <p:sp>
        <p:nvSpPr>
          <p:cNvPr name="TextBox 10" id="10"/>
          <p:cNvSpPr txBox="true"/>
          <p:nvPr/>
        </p:nvSpPr>
        <p:spPr>
          <a:xfrm rot="0">
            <a:off x="807473" y="1723205"/>
            <a:ext cx="15728540" cy="521970"/>
          </a:xfrm>
          <a:prstGeom prst="rect">
            <a:avLst/>
          </a:prstGeom>
        </p:spPr>
        <p:txBody>
          <a:bodyPr anchor="t" rtlCol="false" tIns="0" lIns="0" bIns="0" rIns="0">
            <a:spAutoFit/>
          </a:bodyPr>
          <a:lstStyle/>
          <a:p>
            <a:pPr algn="l" marL="647702" indent="-323851" lvl="1">
              <a:lnSpc>
                <a:spcPts val="3600"/>
              </a:lnSpc>
              <a:buAutoNum type="arabicPeriod" startAt="1"/>
            </a:pPr>
            <a:r>
              <a:rPr lang="en-US" b="true" sz="3000">
                <a:solidFill>
                  <a:srgbClr val="F0F2FD"/>
                </a:solidFill>
                <a:latin typeface="Codec Pro Ultra-Bold"/>
                <a:ea typeface="Codec Pro Ultra-Bold"/>
                <a:cs typeface="Codec Pro Ultra-Bold"/>
                <a:sym typeface="Codec Pro Ultra-Bold"/>
              </a:rPr>
              <a:t>Usamos el nuevo 1 de la Fila 2 para eliminar el 2 de arriba (F1) y el -5 de abajo (F3). </a:t>
            </a:r>
          </a:p>
        </p:txBody>
      </p:sp>
      <p:sp>
        <p:nvSpPr>
          <p:cNvPr name="AutoShape 11" id="11"/>
          <p:cNvSpPr/>
          <p:nvPr/>
        </p:nvSpPr>
        <p:spPr>
          <a:xfrm>
            <a:off x="11173920" y="3200276"/>
            <a:ext cx="0" cy="6492240"/>
          </a:xfrm>
          <a:prstGeom prst="line">
            <a:avLst/>
          </a:prstGeom>
          <a:ln cap="flat" w="38100">
            <a:solidFill>
              <a:srgbClr val="FFFFFF"/>
            </a:solidFill>
            <a:prstDash val="solid"/>
            <a:headEnd type="none" len="sm" w="sm"/>
            <a:tailEnd type="none" len="sm" w="sm"/>
          </a:ln>
        </p:spPr>
      </p:sp>
      <p:sp>
        <p:nvSpPr>
          <p:cNvPr name="TextBox 12" id="12"/>
          <p:cNvSpPr txBox="true"/>
          <p:nvPr/>
        </p:nvSpPr>
        <p:spPr>
          <a:xfrm rot="0">
            <a:off x="12579915" y="3730911"/>
            <a:ext cx="4421161" cy="521970"/>
          </a:xfrm>
          <a:prstGeom prst="rect">
            <a:avLst/>
          </a:prstGeom>
        </p:spPr>
        <p:txBody>
          <a:bodyPr anchor="t" rtlCol="false" tIns="0" lIns="0" bIns="0" rIns="0">
            <a:spAutoFit/>
          </a:bodyPr>
          <a:lstStyle/>
          <a:p>
            <a:pPr algn="l">
              <a:lnSpc>
                <a:spcPts val="3600"/>
              </a:lnSpc>
            </a:pPr>
            <a:r>
              <a:rPr lang="en-US" sz="3000" b="true">
                <a:solidFill>
                  <a:srgbClr val="F0F2FD"/>
                </a:solidFill>
                <a:latin typeface="Codec Pro Ultra-Bold"/>
                <a:ea typeface="Codec Pro Ultra-Bold"/>
                <a:cs typeface="Codec Pro Ultra-Bold"/>
                <a:sym typeface="Codec Pro Ultra-Bold"/>
              </a:rPr>
              <a:t>Nuestra matriz queda:</a:t>
            </a:r>
          </a:p>
        </p:txBody>
      </p:sp>
      <p:sp>
        <p:nvSpPr>
          <p:cNvPr name="TextBox 13" id="13"/>
          <p:cNvSpPr txBox="true"/>
          <p:nvPr/>
        </p:nvSpPr>
        <p:spPr>
          <a:xfrm rot="0">
            <a:off x="12579915" y="7523853"/>
            <a:ext cx="4421161" cy="986790"/>
          </a:xfrm>
          <a:prstGeom prst="rect">
            <a:avLst/>
          </a:prstGeom>
        </p:spPr>
        <p:txBody>
          <a:bodyPr anchor="t" rtlCol="false" tIns="0" lIns="0" bIns="0" rIns="0">
            <a:spAutoFit/>
          </a:bodyPr>
          <a:lstStyle/>
          <a:p>
            <a:pPr algn="ctr">
              <a:lnSpc>
                <a:spcPts val="3600"/>
              </a:lnSpc>
            </a:pPr>
            <a:r>
              <a:rPr lang="en-US" sz="3000" b="true">
                <a:solidFill>
                  <a:srgbClr val="F0F2FD"/>
                </a:solidFill>
                <a:latin typeface="Codec Pro Ultra-Bold"/>
                <a:ea typeface="Codec Pro Ultra-Bold"/>
                <a:cs typeface="Codec Pro Ultra-Bold"/>
                <a:sym typeface="Codec Pro Ultra-Bold"/>
              </a:rPr>
              <a:t>Con esto sabemos que z=3</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864127"/>
            <a:ext cx="8351613" cy="4376340"/>
          </a:xfrm>
          <a:custGeom>
            <a:avLst/>
            <a:gdLst/>
            <a:ahLst/>
            <a:cxnLst/>
            <a:rect r="r" b="b" t="t" l="l"/>
            <a:pathLst>
              <a:path h="4376340" w="8351613">
                <a:moveTo>
                  <a:pt x="0" y="0"/>
                </a:moveTo>
                <a:lnTo>
                  <a:pt x="8351613" y="0"/>
                </a:lnTo>
                <a:lnTo>
                  <a:pt x="8351613" y="4376340"/>
                </a:lnTo>
                <a:lnTo>
                  <a:pt x="0" y="4376340"/>
                </a:lnTo>
                <a:lnTo>
                  <a:pt x="0" y="0"/>
                </a:lnTo>
                <a:close/>
              </a:path>
            </a:pathLst>
          </a:custGeom>
          <a:blipFill>
            <a:blip r:embed="rId4"/>
            <a:stretch>
              <a:fillRect l="0" t="0" r="0" b="0"/>
            </a:stretch>
          </a:blipFill>
        </p:spPr>
      </p:sp>
      <p:sp>
        <p:nvSpPr>
          <p:cNvPr name="Freeform 5" id="5"/>
          <p:cNvSpPr/>
          <p:nvPr/>
        </p:nvSpPr>
        <p:spPr>
          <a:xfrm flipH="false" flipV="false" rot="0">
            <a:off x="4756288" y="7394599"/>
            <a:ext cx="4532111" cy="2412253"/>
          </a:xfrm>
          <a:custGeom>
            <a:avLst/>
            <a:gdLst/>
            <a:ahLst/>
            <a:cxnLst/>
            <a:rect r="r" b="b" t="t" l="l"/>
            <a:pathLst>
              <a:path h="2412253" w="4532111">
                <a:moveTo>
                  <a:pt x="0" y="0"/>
                </a:moveTo>
                <a:lnTo>
                  <a:pt x="4532111" y="0"/>
                </a:lnTo>
                <a:lnTo>
                  <a:pt x="4532111" y="2412253"/>
                </a:lnTo>
                <a:lnTo>
                  <a:pt x="0" y="2412253"/>
                </a:lnTo>
                <a:lnTo>
                  <a:pt x="0" y="0"/>
                </a:lnTo>
                <a:close/>
              </a:path>
            </a:pathLst>
          </a:custGeom>
          <a:blipFill>
            <a:blip r:embed="rId5"/>
            <a:stretch>
              <a:fillRect l="0" t="0" r="0" b="0"/>
            </a:stretch>
          </a:blipFill>
          <a:ln w="38100" cap="sq">
            <a:solidFill>
              <a:srgbClr val="FFDE59"/>
            </a:solidFill>
            <a:prstDash val="solid"/>
            <a:miter/>
          </a:ln>
        </p:spPr>
      </p:sp>
      <p:sp>
        <p:nvSpPr>
          <p:cNvPr name="TextBox 6" id="6"/>
          <p:cNvSpPr txBox="true"/>
          <p:nvPr/>
        </p:nvSpPr>
        <p:spPr>
          <a:xfrm rot="0">
            <a:off x="2289693"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Solución por Gauss-Jordan</a:t>
            </a:r>
          </a:p>
        </p:txBody>
      </p:sp>
      <p:sp>
        <p:nvSpPr>
          <p:cNvPr name="TextBox 7" id="7"/>
          <p:cNvSpPr txBox="true"/>
          <p:nvPr/>
        </p:nvSpPr>
        <p:spPr>
          <a:xfrm rot="0">
            <a:off x="10737147" y="4995147"/>
            <a:ext cx="6905206" cy="1934936"/>
          </a:xfrm>
          <a:prstGeom prst="rect">
            <a:avLst/>
          </a:prstGeom>
        </p:spPr>
        <p:txBody>
          <a:bodyPr anchor="t" rtlCol="false" tIns="0" lIns="0" bIns="0" rIns="0">
            <a:spAutoFit/>
          </a:bodyPr>
          <a:lstStyle/>
          <a:p>
            <a:pPr algn="just">
              <a:lnSpc>
                <a:spcPts val="3600"/>
              </a:lnSpc>
            </a:pPr>
            <a:r>
              <a:rPr lang="en-US" sz="3000" b="true">
                <a:solidFill>
                  <a:srgbClr val="F0F2FD"/>
                </a:solidFill>
                <a:latin typeface="Codec Pro Ultra-Bold"/>
                <a:ea typeface="Codec Pro Ultra-Bold"/>
                <a:cs typeface="Codec Pro Ultra-Bold"/>
                <a:sym typeface="Codec Pro Ultra-Bold"/>
              </a:rPr>
              <a:t>Nos queda que las llaves de cifrado son el conjunto solución:</a:t>
            </a:r>
          </a:p>
          <a:p>
            <a:pPr algn="just">
              <a:lnSpc>
                <a:spcPts val="3600"/>
              </a:lnSpc>
            </a:pPr>
          </a:p>
          <a:p>
            <a:pPr algn="ctr">
              <a:lnSpc>
                <a:spcPts val="3960"/>
              </a:lnSpc>
            </a:pPr>
            <a:r>
              <a:rPr lang="en-US" sz="3300" b="true">
                <a:solidFill>
                  <a:srgbClr val="3CDDDF"/>
                </a:solidFill>
                <a:latin typeface="Codec Pro Ultra-Bold"/>
                <a:ea typeface="Codec Pro Ultra-Bold"/>
                <a:cs typeface="Codec Pro Ultra-Bold"/>
                <a:sym typeface="Codec Pro Ultra-Bold"/>
              </a:rPr>
              <a:t> x=4      y= -2    z=3. </a:t>
            </a:r>
          </a:p>
        </p:txBody>
      </p:sp>
      <p:sp>
        <p:nvSpPr>
          <p:cNvPr name="TextBox 8" id="8"/>
          <p:cNvSpPr txBox="true"/>
          <p:nvPr/>
        </p:nvSpPr>
        <p:spPr>
          <a:xfrm rot="0">
            <a:off x="1279730" y="1723205"/>
            <a:ext cx="15728540" cy="986790"/>
          </a:xfrm>
          <a:prstGeom prst="rect">
            <a:avLst/>
          </a:prstGeom>
        </p:spPr>
        <p:txBody>
          <a:bodyPr anchor="t" rtlCol="false" tIns="0" lIns="0" bIns="0" rIns="0">
            <a:spAutoFit/>
          </a:bodyPr>
          <a:lstStyle/>
          <a:p>
            <a:pPr algn="l">
              <a:lnSpc>
                <a:spcPts val="3600"/>
              </a:lnSpc>
            </a:pPr>
            <a:r>
              <a:rPr lang="en-US" sz="3000" b="true">
                <a:solidFill>
                  <a:srgbClr val="F0F2FD"/>
                </a:solidFill>
                <a:latin typeface="Codec Pro Ultra-Bold"/>
                <a:ea typeface="Codec Pro Ultra-Bold"/>
                <a:cs typeface="Codec Pro Ultra-Bold"/>
                <a:sym typeface="Codec Pro Ultra-Bold"/>
              </a:rPr>
              <a:t>Para terimnar el método de Gauss-Jordan, eliminamos los valores que estorban en la columna 3 usando este último pivote:</a:t>
            </a:r>
          </a:p>
        </p:txBody>
      </p:sp>
      <p:sp>
        <p:nvSpPr>
          <p:cNvPr name="TextBox 9" id="9"/>
          <p:cNvSpPr txBox="true"/>
          <p:nvPr/>
        </p:nvSpPr>
        <p:spPr>
          <a:xfrm rot="0">
            <a:off x="1028700" y="8065045"/>
            <a:ext cx="3288012" cy="986790"/>
          </a:xfrm>
          <a:prstGeom prst="rect">
            <a:avLst/>
          </a:prstGeom>
        </p:spPr>
        <p:txBody>
          <a:bodyPr anchor="t" rtlCol="false" tIns="0" lIns="0" bIns="0" rIns="0">
            <a:spAutoFit/>
          </a:bodyPr>
          <a:lstStyle/>
          <a:p>
            <a:pPr algn="l">
              <a:lnSpc>
                <a:spcPts val="3600"/>
              </a:lnSpc>
            </a:pPr>
            <a:r>
              <a:rPr lang="en-US" sz="3000" b="true">
                <a:solidFill>
                  <a:srgbClr val="F0F2FD"/>
                </a:solidFill>
                <a:latin typeface="Codec Pro Ultra-Bold"/>
                <a:ea typeface="Codec Pro Ultra-Bold"/>
                <a:cs typeface="Codec Pro Ultra-Bold"/>
                <a:sym typeface="Codec Pro Ultra-Bold"/>
              </a:rPr>
              <a:t>Llegando así a la </a:t>
            </a:r>
          </a:p>
          <a:p>
            <a:pPr algn="l">
              <a:lnSpc>
                <a:spcPts val="3600"/>
              </a:lnSpc>
            </a:pPr>
            <a:r>
              <a:rPr lang="en-US" sz="3000" b="true">
                <a:solidFill>
                  <a:srgbClr val="F0F2FD"/>
                </a:solidFill>
                <a:latin typeface="Codec Pro Ultra-Bold"/>
                <a:ea typeface="Codec Pro Ultra-Bold"/>
                <a:cs typeface="Codec Pro Ultra-Bold"/>
                <a:sym typeface="Codec Pro Ultra-Bold"/>
              </a:rPr>
              <a:t>Matriz Identidad</a:t>
            </a:r>
          </a:p>
        </p:txBody>
      </p:sp>
      <p:sp>
        <p:nvSpPr>
          <p:cNvPr name="AutoShape 10" id="10"/>
          <p:cNvSpPr/>
          <p:nvPr/>
        </p:nvSpPr>
        <p:spPr>
          <a:xfrm>
            <a:off x="9939532" y="3081470"/>
            <a:ext cx="0" cy="6492240"/>
          </a:xfrm>
          <a:prstGeom prst="line">
            <a:avLst/>
          </a:prstGeom>
          <a:ln cap="flat" w="38100">
            <a:solidFill>
              <a:srgbClr val="FFFFFF"/>
            </a:solidFill>
            <a:prstDash val="solid"/>
            <a:headEnd type="none" len="sm" w="sm"/>
            <a:tailEnd type="none" len="sm" w="sm"/>
          </a:ln>
        </p:spPr>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05147" y="5898445"/>
            <a:ext cx="11263754" cy="4018501"/>
          </a:xfrm>
          <a:custGeom>
            <a:avLst/>
            <a:gdLst/>
            <a:ahLst/>
            <a:cxnLst/>
            <a:rect r="r" b="b" t="t" l="l"/>
            <a:pathLst>
              <a:path h="4018501" w="11263754">
                <a:moveTo>
                  <a:pt x="0" y="0"/>
                </a:moveTo>
                <a:lnTo>
                  <a:pt x="11263754" y="0"/>
                </a:lnTo>
                <a:lnTo>
                  <a:pt x="11263754" y="4018501"/>
                </a:lnTo>
                <a:lnTo>
                  <a:pt x="0" y="4018501"/>
                </a:lnTo>
                <a:lnTo>
                  <a:pt x="0" y="0"/>
                </a:lnTo>
                <a:close/>
              </a:path>
            </a:pathLst>
          </a:custGeom>
          <a:blipFill>
            <a:blip r:embed="rId4"/>
            <a:stretch>
              <a:fillRect l="0" t="0" r="0" b="0"/>
            </a:stretch>
          </a:blipFill>
          <a:ln w="38100" cap="sq">
            <a:solidFill>
              <a:srgbClr val="3CDDDF"/>
            </a:solidFill>
            <a:prstDash val="solid"/>
            <a:miter/>
          </a:ln>
        </p:spPr>
      </p:sp>
      <p:sp>
        <p:nvSpPr>
          <p:cNvPr name="TextBox 5" id="5"/>
          <p:cNvSpPr txBox="true"/>
          <p:nvPr/>
        </p:nvSpPr>
        <p:spPr>
          <a:xfrm rot="0">
            <a:off x="1028700"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Producto Punto e Integridad</a:t>
            </a:r>
          </a:p>
        </p:txBody>
      </p:sp>
      <p:sp>
        <p:nvSpPr>
          <p:cNvPr name="TextBox 6" id="6"/>
          <p:cNvSpPr txBox="true"/>
          <p:nvPr/>
        </p:nvSpPr>
        <p:spPr>
          <a:xfrm rot="0">
            <a:off x="821724" y="1624454"/>
            <a:ext cx="16644551" cy="4000500"/>
          </a:xfrm>
          <a:prstGeom prst="rect">
            <a:avLst/>
          </a:prstGeom>
        </p:spPr>
        <p:txBody>
          <a:bodyPr anchor="t" rtlCol="false" tIns="0" lIns="0" bIns="0" rIns="0">
            <a:spAutoFit/>
          </a:bodyPr>
          <a:lstStyle/>
          <a:p>
            <a:pPr algn="just">
              <a:lnSpc>
                <a:spcPts val="3480"/>
              </a:lnSpc>
            </a:pPr>
            <a:r>
              <a:rPr lang="en-US" sz="2900" b="true">
                <a:solidFill>
                  <a:srgbClr val="F0F2FD"/>
                </a:solidFill>
                <a:latin typeface="Codec Pro Ultra-Bold"/>
                <a:ea typeface="Codec Pro Ultra-Bold"/>
                <a:cs typeface="Codec Pro Ultra-Bold"/>
                <a:sym typeface="Codec Pro Ultra-Bold"/>
              </a:rPr>
              <a:t>Para asegurar que los datos no fueron alterados, aplicamos el Producto Punto contra un Vector de Pesos (W) del sistema. En las redes y la seguridad informática, cuando envías datos de un punto A a un punto B, necesitas asegurar que ningún "hacker" los haya modificado en el camino. Aquí es donde entra el producto punto como un filtro de validación ultrarrápido. </a:t>
            </a:r>
          </a:p>
          <a:p>
            <a:pPr algn="just">
              <a:lnSpc>
                <a:spcPts val="3480"/>
              </a:lnSpc>
            </a:pPr>
          </a:p>
          <a:p>
            <a:pPr algn="just">
              <a:lnSpc>
                <a:spcPts val="3480"/>
              </a:lnSpc>
            </a:pPr>
            <a:r>
              <a:rPr lang="en-US" sz="2900" b="true">
                <a:solidFill>
                  <a:srgbClr val="F2FF00"/>
                </a:solidFill>
                <a:latin typeface="Codec Pro Ultra-Bold"/>
                <a:ea typeface="Codec Pro Ultra-Bold"/>
                <a:cs typeface="Codec Pro Ultra-Bold"/>
                <a:sym typeface="Codec Pro Ultra-Bold"/>
              </a:rPr>
              <a:t>El Vector de Datos {K}: </a:t>
            </a:r>
            <a:r>
              <a:rPr lang="en-US" sz="2900" b="true">
                <a:solidFill>
                  <a:srgbClr val="F0F2FD"/>
                </a:solidFill>
                <a:latin typeface="Codec Pro Ultra-Bold"/>
                <a:ea typeface="Codec Pro Ultra-Bold"/>
                <a:cs typeface="Codec Pro Ultra-Bold"/>
                <a:sym typeface="Codec Pro Ultra-Bold"/>
              </a:rPr>
              <a:t>Son las respuestas o llaves que calculamos con Gauss-Jordan. </a:t>
            </a:r>
          </a:p>
          <a:p>
            <a:pPr algn="just">
              <a:lnSpc>
                <a:spcPts val="3480"/>
              </a:lnSpc>
            </a:pPr>
          </a:p>
          <a:p>
            <a:pPr algn="just">
              <a:lnSpc>
                <a:spcPts val="3480"/>
              </a:lnSpc>
            </a:pPr>
            <a:r>
              <a:rPr lang="en-US" sz="2900" b="true">
                <a:solidFill>
                  <a:srgbClr val="C1FF72"/>
                </a:solidFill>
                <a:latin typeface="Codec Pro Ultra-Bold"/>
                <a:ea typeface="Codec Pro Ultra-Bold"/>
                <a:cs typeface="Codec Pro Ultra-Bold"/>
                <a:sym typeface="Codec Pro Ultra-Bold"/>
              </a:rPr>
              <a:t>El Vector de Pesos de Seguridad {W}:</a:t>
            </a:r>
            <a:r>
              <a:rPr lang="en-US" sz="2900" b="true">
                <a:solidFill>
                  <a:srgbClr val="F0F2FD"/>
                </a:solidFill>
                <a:latin typeface="Codec Pro Ultra-Bold"/>
                <a:ea typeface="Codec Pro Ultra-Bold"/>
                <a:cs typeface="Codec Pro Ultra-Bold"/>
                <a:sym typeface="Codec Pro Ultra-Bold"/>
              </a:rPr>
              <a:t> Es una clave secreta que solo conocen el cliente y el servidor. Funciona como una plantilla de control. </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099274" y="6315075"/>
            <a:ext cx="10847467" cy="1765087"/>
          </a:xfrm>
          <a:custGeom>
            <a:avLst/>
            <a:gdLst/>
            <a:ahLst/>
            <a:cxnLst/>
            <a:rect r="r" b="b" t="t" l="l"/>
            <a:pathLst>
              <a:path h="1765087" w="10847467">
                <a:moveTo>
                  <a:pt x="0" y="0"/>
                </a:moveTo>
                <a:lnTo>
                  <a:pt x="10847467" y="0"/>
                </a:lnTo>
                <a:lnTo>
                  <a:pt x="10847467" y="1765087"/>
                </a:lnTo>
                <a:lnTo>
                  <a:pt x="0" y="1765087"/>
                </a:lnTo>
                <a:lnTo>
                  <a:pt x="0" y="0"/>
                </a:lnTo>
                <a:close/>
              </a:path>
            </a:pathLst>
          </a:custGeom>
          <a:blipFill>
            <a:blip r:embed="rId4"/>
            <a:stretch>
              <a:fillRect l="0" t="0" r="0" b="0"/>
            </a:stretch>
          </a:blipFill>
        </p:spPr>
      </p:sp>
      <p:sp>
        <p:nvSpPr>
          <p:cNvPr name="TextBox 5" id="5"/>
          <p:cNvSpPr txBox="true"/>
          <p:nvPr/>
        </p:nvSpPr>
        <p:spPr>
          <a:xfrm rot="0">
            <a:off x="1028700" y="592138"/>
            <a:ext cx="9465300" cy="815975"/>
          </a:xfrm>
          <a:prstGeom prst="rect">
            <a:avLst/>
          </a:prstGeom>
        </p:spPr>
        <p:txBody>
          <a:bodyPr anchor="t" rtlCol="false" tIns="0" lIns="0" bIns="0" rIns="0">
            <a:spAutoFit/>
          </a:bodyPr>
          <a:lstStyle/>
          <a:p>
            <a:pPr algn="l" marL="1079501" indent="-539750" lvl="1">
              <a:lnSpc>
                <a:spcPts val="6100"/>
              </a:lnSpc>
              <a:spcBef>
                <a:spcPct val="0"/>
              </a:spcBef>
              <a:buFont typeface="Arial"/>
              <a:buChar char="•"/>
            </a:pPr>
            <a:r>
              <a:rPr lang="en-US" b="true" sz="5000" i="true" spc="-255">
                <a:solidFill>
                  <a:srgbClr val="6A84FF"/>
                </a:solidFill>
                <a:latin typeface="Poppins Bold Italics"/>
                <a:ea typeface="Poppins Bold Italics"/>
                <a:cs typeface="Poppins Bold Italics"/>
                <a:sym typeface="Poppins Bold Italics"/>
              </a:rPr>
              <a:t>Análisis de Escalabilidad</a:t>
            </a:r>
          </a:p>
        </p:txBody>
      </p:sp>
      <p:sp>
        <p:nvSpPr>
          <p:cNvPr name="TextBox 6" id="6"/>
          <p:cNvSpPr txBox="true"/>
          <p:nvPr/>
        </p:nvSpPr>
        <p:spPr>
          <a:xfrm rot="0">
            <a:off x="1377936" y="1509845"/>
            <a:ext cx="15836928" cy="1916430"/>
          </a:xfrm>
          <a:prstGeom prst="rect">
            <a:avLst/>
          </a:prstGeom>
        </p:spPr>
        <p:txBody>
          <a:bodyPr anchor="t" rtlCol="false" tIns="0" lIns="0" bIns="0" rIns="0">
            <a:spAutoFit/>
          </a:bodyPr>
          <a:lstStyle/>
          <a:p>
            <a:pPr algn="just">
              <a:lnSpc>
                <a:spcPts val="3600"/>
              </a:lnSpc>
            </a:pPr>
            <a:r>
              <a:rPr lang="en-US" b="true" sz="3000">
                <a:solidFill>
                  <a:srgbClr val="3CDDDF"/>
                </a:solidFill>
                <a:latin typeface="Codec Pro Ultra-Bold"/>
                <a:ea typeface="Codec Pro Ultra-Bold"/>
                <a:cs typeface="Codec Pro Ultra-Bold"/>
                <a:sym typeface="Codec Pro Ultra-Bold"/>
              </a:rPr>
              <a:t>Propiedad de Homogeneidad (c=10): </a:t>
            </a:r>
            <a:r>
              <a:rPr lang="en-US" sz="3000" b="true">
                <a:solidFill>
                  <a:srgbClr val="FCFAFF"/>
                </a:solidFill>
                <a:latin typeface="Codec Pro Ultra-Bold"/>
                <a:ea typeface="Codec Pro Ultra-Bold"/>
                <a:cs typeface="Codec Pro Ultra-Bold"/>
                <a:sym typeface="Codec Pro Ultra-Bold"/>
              </a:rPr>
              <a:t>Es una regla fundamental que establece que multiplicar un vector por un escalar (un número real) tiene el mismo efecto que multiplicar el resultado de una función (o transformación) por ese mismo escalar.</a:t>
            </a:r>
          </a:p>
          <a:p>
            <a:pPr algn="just">
              <a:lnSpc>
                <a:spcPts val="3600"/>
              </a:lnSpc>
            </a:pPr>
            <a:r>
              <a:rPr lang="en-US" sz="3000" b="true">
                <a:solidFill>
                  <a:srgbClr val="FCFAFF"/>
                </a:solidFill>
                <a:latin typeface="Codec Pro Ultra-Bold"/>
                <a:ea typeface="Codec Pro Ultra-Bold"/>
                <a:cs typeface="Codec Pro Ultra-Bold"/>
                <a:sym typeface="Codec Pro Ultra-Bold"/>
              </a:rPr>
              <a:t>Se expresa matemáticamente de la siguiente manera:  𝑓(𝑐⋅𝑣⃗) = 𝑐⋅𝑓(𝑣⃗)</a:t>
            </a:r>
          </a:p>
        </p:txBody>
      </p:sp>
      <p:sp>
        <p:nvSpPr>
          <p:cNvPr name="TextBox 7" id="7"/>
          <p:cNvSpPr txBox="true"/>
          <p:nvPr/>
        </p:nvSpPr>
        <p:spPr>
          <a:xfrm rot="0">
            <a:off x="1620822" y="8746912"/>
            <a:ext cx="15046357" cy="986790"/>
          </a:xfrm>
          <a:prstGeom prst="rect">
            <a:avLst/>
          </a:prstGeom>
        </p:spPr>
        <p:txBody>
          <a:bodyPr anchor="t" rtlCol="false" tIns="0" lIns="0" bIns="0" rIns="0">
            <a:spAutoFit/>
          </a:bodyPr>
          <a:lstStyle/>
          <a:p>
            <a:pPr algn="just">
              <a:lnSpc>
                <a:spcPts val="3600"/>
              </a:lnSpc>
            </a:pPr>
            <a:r>
              <a:rPr lang="en-US" sz="3000" b="true">
                <a:solidFill>
                  <a:srgbClr val="F0F2FD"/>
                </a:solidFill>
                <a:latin typeface="Codec Pro Ultra-Bold"/>
                <a:ea typeface="Codec Pro Ultra-Bold"/>
                <a:cs typeface="Codec Pro Ultra-Bold"/>
                <a:sym typeface="Codec Pro Ultra-Bold"/>
              </a:rPr>
              <a:t>Se confirma que c(K·W) </a:t>
            </a:r>
            <a:r>
              <a:rPr lang="en-US" sz="3000" b="true">
                <a:solidFill>
                  <a:srgbClr val="F0F2FD"/>
                </a:solidFill>
                <a:latin typeface="Codec Pro Ultra-Bold"/>
                <a:ea typeface="Codec Pro Ultra-Bold"/>
                <a:cs typeface="Codec Pro Ultra-Bold"/>
                <a:sym typeface="Codec Pro Ultra-Bold"/>
              </a:rPr>
              <a:t>= (cK)·W. El a</a:t>
            </a:r>
            <a:r>
              <a:rPr lang="en-US" sz="3000" b="true">
                <a:solidFill>
                  <a:srgbClr val="F0F2FD"/>
                </a:solidFill>
                <a:latin typeface="Codec Pro Ultra-Bold"/>
                <a:ea typeface="Codec Pro Ultra-Bold"/>
                <a:cs typeface="Codec Pro Ultra-Bold"/>
                <a:sym typeface="Codec Pro Ultra-Bold"/>
              </a:rPr>
              <a:t>lgoritmo es estable bajo factores de amplificación.</a:t>
            </a:r>
          </a:p>
        </p:txBody>
      </p:sp>
      <p:sp>
        <p:nvSpPr>
          <p:cNvPr name="TextBox 8" id="8"/>
          <p:cNvSpPr txBox="true"/>
          <p:nvPr/>
        </p:nvSpPr>
        <p:spPr>
          <a:xfrm rot="0">
            <a:off x="2452370" y="6492823"/>
            <a:ext cx="2270716" cy="403601"/>
          </a:xfrm>
          <a:prstGeom prst="rect">
            <a:avLst/>
          </a:prstGeom>
        </p:spPr>
        <p:txBody>
          <a:bodyPr anchor="t" rtlCol="false" tIns="0" lIns="0" bIns="0" rIns="0">
            <a:spAutoFit/>
          </a:bodyPr>
          <a:lstStyle/>
          <a:p>
            <a:pPr algn="just">
              <a:lnSpc>
                <a:spcPts val="2952"/>
              </a:lnSpc>
            </a:pPr>
            <a:r>
              <a:rPr lang="en-US" b="true" sz="2460">
                <a:solidFill>
                  <a:srgbClr val="F0F2FD"/>
                </a:solidFill>
                <a:latin typeface="Poppins Ultra-Bold"/>
                <a:ea typeface="Poppins Ultra-Bold"/>
                <a:cs typeface="Poppins Ultra-Bold"/>
                <a:sym typeface="Poppins Ultra-Bold"/>
              </a:rPr>
              <a:t>Hash Original</a:t>
            </a:r>
          </a:p>
        </p:txBody>
      </p:sp>
      <p:sp>
        <p:nvSpPr>
          <p:cNvPr name="TextBox 9" id="9"/>
          <p:cNvSpPr txBox="true"/>
          <p:nvPr/>
        </p:nvSpPr>
        <p:spPr>
          <a:xfrm rot="0">
            <a:off x="2341259" y="7521668"/>
            <a:ext cx="2397741" cy="403601"/>
          </a:xfrm>
          <a:prstGeom prst="rect">
            <a:avLst/>
          </a:prstGeom>
        </p:spPr>
        <p:txBody>
          <a:bodyPr anchor="t" rtlCol="false" tIns="0" lIns="0" bIns="0" rIns="0">
            <a:spAutoFit/>
          </a:bodyPr>
          <a:lstStyle/>
          <a:p>
            <a:pPr algn="just">
              <a:lnSpc>
                <a:spcPts val="2952"/>
              </a:lnSpc>
            </a:pPr>
            <a:r>
              <a:rPr lang="en-US" b="true" sz="2460">
                <a:solidFill>
                  <a:srgbClr val="F0F2FD"/>
                </a:solidFill>
                <a:latin typeface="Poppins Ultra-Bold"/>
                <a:ea typeface="Poppins Ultra-Bold"/>
                <a:cs typeface="Poppins Ultra-Bold"/>
                <a:sym typeface="Poppins Ultra-Bold"/>
              </a:rPr>
              <a:t>Hash Escalado</a:t>
            </a:r>
          </a:p>
        </p:txBody>
      </p:sp>
      <p:sp>
        <p:nvSpPr>
          <p:cNvPr name="TextBox 10" id="10"/>
          <p:cNvSpPr txBox="true"/>
          <p:nvPr/>
        </p:nvSpPr>
        <p:spPr>
          <a:xfrm rot="0">
            <a:off x="4605757" y="4806659"/>
            <a:ext cx="9076485" cy="986790"/>
          </a:xfrm>
          <a:prstGeom prst="rect">
            <a:avLst/>
          </a:prstGeom>
        </p:spPr>
        <p:txBody>
          <a:bodyPr anchor="t" rtlCol="false" tIns="0" lIns="0" bIns="0" rIns="0">
            <a:spAutoFit/>
          </a:bodyPr>
          <a:lstStyle/>
          <a:p>
            <a:pPr algn="ctr">
              <a:lnSpc>
                <a:spcPts val="3600"/>
              </a:lnSpc>
            </a:pPr>
            <a:r>
              <a:rPr lang="en-US" sz="3000" b="true">
                <a:solidFill>
                  <a:srgbClr val="F0F2FD"/>
                </a:solidFill>
                <a:latin typeface="Codec Pro Ultra-Bold"/>
                <a:ea typeface="Codec Pro Ultra-Bold"/>
                <a:cs typeface="Codec Pro Ultra-Bold"/>
                <a:sym typeface="Codec Pro Ultra-Bold"/>
              </a:rPr>
              <a:t>Hash Escalado = (40 . 05) + (-20 . 0.3) + (30 . 0.2)</a:t>
            </a:r>
          </a:p>
          <a:p>
            <a:pPr algn="ctr">
              <a:lnSpc>
                <a:spcPts val="3600"/>
              </a:lnSpc>
            </a:pPr>
            <a:r>
              <a:rPr lang="en-US" sz="3000" b="true">
                <a:solidFill>
                  <a:srgbClr val="F0F2FD"/>
                </a:solidFill>
                <a:latin typeface="Codec Pro Ultra-Bold"/>
                <a:ea typeface="Codec Pro Ultra-Bold"/>
                <a:cs typeface="Codec Pro Ultra-Bold"/>
                <a:sym typeface="Codec Pro Ultra-Bold"/>
              </a:rPr>
              <a:t>Hash Escalado = 20 - 6 + 6 = 20.0</a:t>
            </a:r>
          </a:p>
        </p:txBody>
      </p:sp>
      <p:sp>
        <p:nvSpPr>
          <p:cNvPr name="TextBox 11" id="11"/>
          <p:cNvSpPr txBox="true"/>
          <p:nvPr/>
        </p:nvSpPr>
        <p:spPr>
          <a:xfrm rot="0">
            <a:off x="1377936" y="3820213"/>
            <a:ext cx="13126498" cy="521970"/>
          </a:xfrm>
          <a:prstGeom prst="rect">
            <a:avLst/>
          </a:prstGeom>
        </p:spPr>
        <p:txBody>
          <a:bodyPr anchor="t" rtlCol="false" tIns="0" lIns="0" bIns="0" rIns="0">
            <a:spAutoFit/>
          </a:bodyPr>
          <a:lstStyle/>
          <a:p>
            <a:pPr algn="just">
              <a:lnSpc>
                <a:spcPts val="3600"/>
              </a:lnSpc>
            </a:pPr>
            <a:r>
              <a:rPr lang="en-US" sz="3000" b="true">
                <a:solidFill>
                  <a:srgbClr val="F0F2FD"/>
                </a:solidFill>
                <a:latin typeface="Codec Pro Ultra-Bold"/>
                <a:ea typeface="Codec Pro Ultra-Bold"/>
                <a:cs typeface="Codec Pro Ultra-Bold"/>
                <a:sym typeface="Codec Pro Ultra-Bold"/>
              </a:rPr>
              <a:t>Aplicando el Escalar al Vector de Llaves (cK}: 10 [4,-2, 3] </a:t>
            </a:r>
            <a:r>
              <a:rPr lang="en-US" sz="3000" b="true">
                <a:solidFill>
                  <a:srgbClr val="F0F2FD"/>
                </a:solidFill>
                <a:latin typeface="Codec Pro Ultra-Bold"/>
                <a:ea typeface="Codec Pro Ultra-Bold"/>
                <a:cs typeface="Codec Pro Ultra-Bold"/>
                <a:sym typeface="Codec Pro Ultra-Bold"/>
              </a:rPr>
              <a:t>= [40,-20,</a:t>
            </a:r>
            <a:r>
              <a:rPr lang="en-US" sz="3000" b="true">
                <a:solidFill>
                  <a:srgbClr val="F0F2FD"/>
                </a:solidFill>
                <a:latin typeface="Codec Pro Ultra-Bold"/>
                <a:ea typeface="Codec Pro Ultra-Bold"/>
                <a:cs typeface="Codec Pro Ultra-Bold"/>
                <a:sym typeface="Codec Pro Ultra-Bold"/>
              </a:rPr>
              <a:t> 30]</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136167" y="902210"/>
            <a:ext cx="599730" cy="630453"/>
            <a:chOff x="0" y="0"/>
            <a:chExt cx="773191" cy="812800"/>
          </a:xfrm>
        </p:grpSpPr>
        <p:sp>
          <p:nvSpPr>
            <p:cNvPr name="Freeform 4" id="4"/>
            <p:cNvSpPr/>
            <p:nvPr/>
          </p:nvSpPr>
          <p:spPr>
            <a:xfrm flipH="false" flipV="false" rot="0">
              <a:off x="0" y="0"/>
              <a:ext cx="773191" cy="812800"/>
            </a:xfrm>
            <a:custGeom>
              <a:avLst/>
              <a:gdLst/>
              <a:ahLst/>
              <a:cxnLst/>
              <a:rect r="r" b="b" t="t" l="l"/>
              <a:pathLst>
                <a:path h="812800" w="773191">
                  <a:moveTo>
                    <a:pt x="386595" y="0"/>
                  </a:moveTo>
                  <a:cubicBezTo>
                    <a:pt x="173085" y="0"/>
                    <a:pt x="0" y="181951"/>
                    <a:pt x="0" y="406400"/>
                  </a:cubicBezTo>
                  <a:cubicBezTo>
                    <a:pt x="0" y="630849"/>
                    <a:pt x="173085" y="812800"/>
                    <a:pt x="386595" y="812800"/>
                  </a:cubicBezTo>
                  <a:cubicBezTo>
                    <a:pt x="600106" y="812800"/>
                    <a:pt x="773191" y="630849"/>
                    <a:pt x="773191" y="406400"/>
                  </a:cubicBezTo>
                  <a:cubicBezTo>
                    <a:pt x="773191" y="181951"/>
                    <a:pt x="600106" y="0"/>
                    <a:pt x="386595" y="0"/>
                  </a:cubicBezTo>
                  <a:close/>
                </a:path>
              </a:pathLst>
            </a:custGeom>
            <a:solidFill>
              <a:srgbClr val="3CDDDF"/>
            </a:solidFill>
          </p:spPr>
        </p:sp>
        <p:sp>
          <p:nvSpPr>
            <p:cNvPr name="TextBox 5" id="5"/>
            <p:cNvSpPr txBox="true"/>
            <p:nvPr/>
          </p:nvSpPr>
          <p:spPr>
            <a:xfrm>
              <a:off x="72487" y="19050"/>
              <a:ext cx="628218" cy="717550"/>
            </a:xfrm>
            <a:prstGeom prst="rect">
              <a:avLst/>
            </a:prstGeom>
          </p:spPr>
          <p:txBody>
            <a:bodyPr anchor="ctr" rtlCol="false" tIns="50800" lIns="50800" bIns="50800" rIns="50800"/>
            <a:lstStyle/>
            <a:p>
              <a:pPr algn="ctr">
                <a:lnSpc>
                  <a:spcPts val="2810"/>
                </a:lnSpc>
              </a:pPr>
            </a:p>
          </p:txBody>
        </p:sp>
      </p:grpSp>
      <p:grpSp>
        <p:nvGrpSpPr>
          <p:cNvPr name="Group 6" id="6"/>
          <p:cNvGrpSpPr/>
          <p:nvPr/>
        </p:nvGrpSpPr>
        <p:grpSpPr>
          <a:xfrm rot="0">
            <a:off x="632302" y="3600450"/>
            <a:ext cx="17023395" cy="3086100"/>
            <a:chOff x="0" y="0"/>
            <a:chExt cx="4483528" cy="812800"/>
          </a:xfrm>
        </p:grpSpPr>
        <p:sp>
          <p:nvSpPr>
            <p:cNvPr name="Freeform 7" id="7"/>
            <p:cNvSpPr/>
            <p:nvPr/>
          </p:nvSpPr>
          <p:spPr>
            <a:xfrm flipH="false" flipV="false" rot="0">
              <a:off x="0" y="0"/>
              <a:ext cx="4483528" cy="812800"/>
            </a:xfrm>
            <a:custGeom>
              <a:avLst/>
              <a:gdLst/>
              <a:ahLst/>
              <a:cxnLst/>
              <a:rect r="r" b="b" t="t" l="l"/>
              <a:pathLst>
                <a:path h="812800" w="4483528">
                  <a:moveTo>
                    <a:pt x="18646" y="0"/>
                  </a:moveTo>
                  <a:lnTo>
                    <a:pt x="4464882" y="0"/>
                  </a:lnTo>
                  <a:cubicBezTo>
                    <a:pt x="4469827" y="0"/>
                    <a:pt x="4474570" y="1964"/>
                    <a:pt x="4478067" y="5461"/>
                  </a:cubicBezTo>
                  <a:cubicBezTo>
                    <a:pt x="4481563" y="8958"/>
                    <a:pt x="4483528" y="13701"/>
                    <a:pt x="4483528" y="18646"/>
                  </a:cubicBezTo>
                  <a:lnTo>
                    <a:pt x="4483528" y="794154"/>
                  </a:lnTo>
                  <a:cubicBezTo>
                    <a:pt x="4483528" y="804452"/>
                    <a:pt x="4475180" y="812800"/>
                    <a:pt x="4464882" y="812800"/>
                  </a:cubicBezTo>
                  <a:lnTo>
                    <a:pt x="18646" y="812800"/>
                  </a:lnTo>
                  <a:cubicBezTo>
                    <a:pt x="8348" y="812800"/>
                    <a:pt x="0" y="804452"/>
                    <a:pt x="0" y="794154"/>
                  </a:cubicBezTo>
                  <a:lnTo>
                    <a:pt x="0" y="18646"/>
                  </a:lnTo>
                  <a:cubicBezTo>
                    <a:pt x="0" y="8348"/>
                    <a:pt x="8348" y="0"/>
                    <a:pt x="18646" y="0"/>
                  </a:cubicBezTo>
                  <a:close/>
                </a:path>
              </a:pathLst>
            </a:custGeom>
            <a:solidFill>
              <a:srgbClr val="57626A"/>
            </a:solidFill>
          </p:spPr>
        </p:sp>
        <p:sp>
          <p:nvSpPr>
            <p:cNvPr name="TextBox 8" id="8"/>
            <p:cNvSpPr txBox="true"/>
            <p:nvPr/>
          </p:nvSpPr>
          <p:spPr>
            <a:xfrm>
              <a:off x="0" y="-57150"/>
              <a:ext cx="4483528" cy="869950"/>
            </a:xfrm>
            <a:prstGeom prst="rect">
              <a:avLst/>
            </a:prstGeom>
          </p:spPr>
          <p:txBody>
            <a:bodyPr anchor="ctr" rtlCol="false" tIns="50800" lIns="50800" bIns="50800" rIns="50800"/>
            <a:lstStyle/>
            <a:p>
              <a:pPr algn="ctr">
                <a:lnSpc>
                  <a:spcPts val="2810"/>
                </a:lnSpc>
              </a:pPr>
            </a:p>
          </p:txBody>
        </p:sp>
      </p:grpSp>
      <p:grpSp>
        <p:nvGrpSpPr>
          <p:cNvPr name="Group 9" id="9"/>
          <p:cNvGrpSpPr/>
          <p:nvPr/>
        </p:nvGrpSpPr>
        <p:grpSpPr>
          <a:xfrm rot="0">
            <a:off x="585560" y="6915150"/>
            <a:ext cx="17116880" cy="3086100"/>
            <a:chOff x="0" y="0"/>
            <a:chExt cx="4508149" cy="812800"/>
          </a:xfrm>
        </p:grpSpPr>
        <p:sp>
          <p:nvSpPr>
            <p:cNvPr name="Freeform 10" id="10"/>
            <p:cNvSpPr/>
            <p:nvPr/>
          </p:nvSpPr>
          <p:spPr>
            <a:xfrm flipH="false" flipV="false" rot="0">
              <a:off x="0" y="0"/>
              <a:ext cx="4508150" cy="812800"/>
            </a:xfrm>
            <a:custGeom>
              <a:avLst/>
              <a:gdLst/>
              <a:ahLst/>
              <a:cxnLst/>
              <a:rect r="r" b="b" t="t" l="l"/>
              <a:pathLst>
                <a:path h="812800" w="4508150">
                  <a:moveTo>
                    <a:pt x="19449" y="0"/>
                  </a:moveTo>
                  <a:lnTo>
                    <a:pt x="4488701" y="0"/>
                  </a:lnTo>
                  <a:cubicBezTo>
                    <a:pt x="4499442" y="0"/>
                    <a:pt x="4508150" y="8708"/>
                    <a:pt x="4508150" y="19449"/>
                  </a:cubicBezTo>
                  <a:lnTo>
                    <a:pt x="4508150" y="793351"/>
                  </a:lnTo>
                  <a:cubicBezTo>
                    <a:pt x="4508150" y="804092"/>
                    <a:pt x="4499442" y="812800"/>
                    <a:pt x="4488701" y="812800"/>
                  </a:cubicBezTo>
                  <a:lnTo>
                    <a:pt x="19449" y="812800"/>
                  </a:lnTo>
                  <a:cubicBezTo>
                    <a:pt x="8708" y="812800"/>
                    <a:pt x="0" y="804092"/>
                    <a:pt x="0" y="793351"/>
                  </a:cubicBezTo>
                  <a:lnTo>
                    <a:pt x="0" y="19449"/>
                  </a:lnTo>
                  <a:cubicBezTo>
                    <a:pt x="0" y="8708"/>
                    <a:pt x="8708" y="0"/>
                    <a:pt x="19449" y="0"/>
                  </a:cubicBezTo>
                  <a:close/>
                </a:path>
              </a:pathLst>
            </a:custGeom>
            <a:solidFill>
              <a:srgbClr val="737373"/>
            </a:solidFill>
          </p:spPr>
        </p:sp>
        <p:sp>
          <p:nvSpPr>
            <p:cNvPr name="TextBox 11" id="11"/>
            <p:cNvSpPr txBox="true"/>
            <p:nvPr/>
          </p:nvSpPr>
          <p:spPr>
            <a:xfrm>
              <a:off x="0" y="-57150"/>
              <a:ext cx="4508149" cy="869950"/>
            </a:xfrm>
            <a:prstGeom prst="rect">
              <a:avLst/>
            </a:prstGeom>
          </p:spPr>
          <p:txBody>
            <a:bodyPr anchor="ctr" rtlCol="false" tIns="50800" lIns="50800" bIns="50800" rIns="50800"/>
            <a:lstStyle/>
            <a:p>
              <a:pPr algn="ctr">
                <a:lnSpc>
                  <a:spcPts val="2810"/>
                </a:lnSpc>
              </a:pPr>
            </a:p>
          </p:txBody>
        </p:sp>
      </p:grpSp>
      <p:sp>
        <p:nvSpPr>
          <p:cNvPr name="TextBox 12" id="12"/>
          <p:cNvSpPr txBox="true"/>
          <p:nvPr/>
        </p:nvSpPr>
        <p:spPr>
          <a:xfrm rot="0">
            <a:off x="838852" y="7286625"/>
            <a:ext cx="16225876" cy="238125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Permite la Resolución de Conflictos y Accesos: La aplicación del método de Gauss-Jordan es crucial para el criptoanálisis y la gestión de permisos. Como se vio en el desarrollo, este algoritmo permite recuperar llaves de acceso cifradas a partir de múltiples variables, transformando un si</a:t>
            </a:r>
            <a:r>
              <a:rPr lang="en-US" b="true" sz="3000">
                <a:solidFill>
                  <a:srgbClr val="F0F2FD"/>
                </a:solidFill>
                <a:latin typeface="Codec Pro Ultra-Bold"/>
                <a:ea typeface="Codec Pro Ultra-Bold"/>
                <a:cs typeface="Codec Pro Ultra-Bold"/>
                <a:sym typeface="Codec Pro Ultra-Bold"/>
              </a:rPr>
              <a:t>stema de ecuaciones complejo en una solución directa y ejecutable por el procesador.</a:t>
            </a:r>
          </a:p>
        </p:txBody>
      </p:sp>
      <p:sp>
        <p:nvSpPr>
          <p:cNvPr name="TextBox 13" id="13"/>
          <p:cNvSpPr txBox="true"/>
          <p:nvPr/>
        </p:nvSpPr>
        <p:spPr>
          <a:xfrm rot="0">
            <a:off x="6058424" y="560239"/>
            <a:ext cx="7093408"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CONCLUSIONES</a:t>
            </a:r>
          </a:p>
        </p:txBody>
      </p:sp>
      <p:sp>
        <p:nvSpPr>
          <p:cNvPr name="TextBox 14" id="14"/>
          <p:cNvSpPr txBox="true"/>
          <p:nvPr/>
        </p:nvSpPr>
        <p:spPr>
          <a:xfrm rot="0">
            <a:off x="1028700" y="2387373"/>
            <a:ext cx="16225876" cy="986790"/>
          </a:xfrm>
          <a:prstGeom prst="rect">
            <a:avLst/>
          </a:prstGeom>
        </p:spPr>
        <p:txBody>
          <a:bodyPr anchor="t" rtlCol="false" tIns="0" lIns="0" bIns="0" rIns="0">
            <a:spAutoFit/>
          </a:bodyPr>
          <a:lstStyle/>
          <a:p>
            <a:pPr algn="just">
              <a:lnSpc>
                <a:spcPts val="3600"/>
              </a:lnSpc>
            </a:pPr>
            <a:r>
              <a:rPr lang="en-US" sz="3000" b="true">
                <a:solidFill>
                  <a:srgbClr val="F0F2FD"/>
                </a:solidFill>
                <a:latin typeface="Codec Pro Ultra-Bold"/>
                <a:ea typeface="Codec Pro Ultra-Bold"/>
                <a:cs typeface="Codec Pro Ultra-Bold"/>
                <a:sym typeface="Codec Pro Ultra-Bold"/>
              </a:rPr>
              <a:t>En este proyecto, se ha demostrado que el Álgebra Lineal no es solo un requisito académico, sino el motor fundam</a:t>
            </a:r>
            <a:r>
              <a:rPr lang="en-US" sz="3000" b="true">
                <a:solidFill>
                  <a:srgbClr val="F0F2FD"/>
                </a:solidFill>
                <a:latin typeface="Codec Pro Ultra-Bold"/>
                <a:ea typeface="Codec Pro Ultra-Bold"/>
                <a:cs typeface="Codec Pro Ultra-Bold"/>
                <a:sym typeface="Codec Pro Ultra-Bold"/>
              </a:rPr>
              <a:t>ental de la Seguridad Informática y la Criptografía</a:t>
            </a:r>
          </a:p>
        </p:txBody>
      </p:sp>
      <p:sp>
        <p:nvSpPr>
          <p:cNvPr name="TextBox 15" id="15"/>
          <p:cNvSpPr txBox="true"/>
          <p:nvPr/>
        </p:nvSpPr>
        <p:spPr>
          <a:xfrm rot="0">
            <a:off x="838852" y="3691890"/>
            <a:ext cx="16225876" cy="2846070"/>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a:solidFill>
                  <a:srgbClr val="F0F2FD"/>
                </a:solidFill>
                <a:latin typeface="Codec Pro Ultra-Bold"/>
                <a:ea typeface="Codec Pro Ultra-Bold"/>
                <a:cs typeface="Codec Pro Ultra-Bold"/>
                <a:sym typeface="Codec Pro Ultra-Bold"/>
              </a:rPr>
              <a:t>Garantiza la Integridad de los Datos: Gracias al Producto Punto, el software puede realizar validaciones de integridad mediante checksums y funciones de verificación. La propiedad de homogeneidad aplicada en este ejercicio confirma que los algoritmos de seguridad son estables y predecibles incluso cuando </a:t>
            </a:r>
            <a:r>
              <a:rPr lang="en-US" b="true" sz="3000">
                <a:solidFill>
                  <a:srgbClr val="F0F2FD"/>
                </a:solidFill>
                <a:latin typeface="Codec Pro Ultra-Bold"/>
                <a:ea typeface="Codec Pro Ultra-Bold"/>
                <a:cs typeface="Codec Pro Ultra-Bold"/>
                <a:sym typeface="Codec Pro Ultra-Bold"/>
              </a:rPr>
              <a:t>los datos escalan en magnitud, permitiendo detectar cualquier alteración mínima en un paquete de información.</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2F6B">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871702" y="7565831"/>
            <a:ext cx="5419991" cy="5419991"/>
          </a:xfrm>
          <a:custGeom>
            <a:avLst/>
            <a:gdLst/>
            <a:ahLst/>
            <a:cxnLst/>
            <a:rect r="r" b="b" t="t" l="l"/>
            <a:pathLst>
              <a:path h="5419991" w="5419991">
                <a:moveTo>
                  <a:pt x="0" y="0"/>
                </a:moveTo>
                <a:lnTo>
                  <a:pt x="5419990" y="0"/>
                </a:lnTo>
                <a:lnTo>
                  <a:pt x="5419990"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033410"/>
            <a:ext cx="16225876" cy="7837170"/>
          </a:xfrm>
          <a:prstGeom prst="rect">
            <a:avLst/>
          </a:prstGeom>
        </p:spPr>
        <p:txBody>
          <a:bodyPr anchor="t" rtlCol="false" tIns="0" lIns="0" bIns="0" rIns="0">
            <a:spAutoFit/>
          </a:bodyPr>
          <a:lstStyle/>
          <a:p>
            <a:pPr algn="just">
              <a:lnSpc>
                <a:spcPts val="3600"/>
              </a:lnSpc>
            </a:pPr>
            <a:r>
              <a:rPr lang="en-US" sz="3000" b="true">
                <a:solidFill>
                  <a:srgbClr val="F0F2FD"/>
                </a:solidFill>
                <a:latin typeface="Codec Pro Ultra-Bold"/>
                <a:ea typeface="Codec Pro Ultra-Bold"/>
                <a:cs typeface="Codec Pro Ultra-Bold"/>
                <a:sym typeface="Codec Pro Ultra-Bold"/>
              </a:rPr>
              <a:t>1. Velasco, J. (2024). El rol del Álgebra lineal en el desarrollo de algoritmos de machine learning y optimización de software. ResearchGate. (Artículo académico que analiza la importancia de las matrices en el software moderno). </a:t>
            </a:r>
          </a:p>
          <a:p>
            <a:pPr algn="just">
              <a:lnSpc>
                <a:spcPts val="3600"/>
              </a:lnSpc>
            </a:pPr>
          </a:p>
          <a:p>
            <a:pPr algn="just">
              <a:lnSpc>
                <a:spcPts val="3600"/>
              </a:lnSpc>
            </a:pPr>
            <a:r>
              <a:rPr lang="en-US" sz="3000" b="true">
                <a:solidFill>
                  <a:srgbClr val="F0F2FD"/>
                </a:solidFill>
                <a:latin typeface="Codec Pro Ultra-Bold"/>
                <a:ea typeface="Codec Pro Ultra-Bold"/>
                <a:cs typeface="Codec Pro Ultra-Bold"/>
                <a:sym typeface="Codec Pro Ultra-Bold"/>
              </a:rPr>
              <a:t>2. Stallings, W. (2017). Cryptography and Network Security: Principles and Practice. Pearson. (Referencia para protocolos de seguridad y cifrado).</a:t>
            </a:r>
          </a:p>
          <a:p>
            <a:pPr algn="just">
              <a:lnSpc>
                <a:spcPts val="3600"/>
              </a:lnSpc>
            </a:pPr>
          </a:p>
          <a:p>
            <a:pPr algn="just">
              <a:lnSpc>
                <a:spcPts val="3600"/>
              </a:lnSpc>
            </a:pPr>
            <a:r>
              <a:rPr lang="en-US" sz="3000" b="true">
                <a:solidFill>
                  <a:srgbClr val="F0F2FD"/>
                </a:solidFill>
                <a:latin typeface="Codec Pro Ultra-Bold"/>
                <a:ea typeface="Codec Pro Ultra-Bold"/>
                <a:cs typeface="Codec Pro Ultra-Bold"/>
                <a:sym typeface="Codec Pro Ultra-Bold"/>
              </a:rPr>
              <a:t>3</a:t>
            </a:r>
            <a:r>
              <a:rPr lang="en-US" sz="3000" b="true">
                <a:solidFill>
                  <a:srgbClr val="F0F2FD"/>
                </a:solidFill>
                <a:latin typeface="Codec Pro Ultra-Bold"/>
                <a:ea typeface="Codec Pro Ultra-Bold"/>
                <a:cs typeface="Codec Pro Ultra-Bold"/>
                <a:sym typeface="Codec Pro Ultra-Bold"/>
              </a:rPr>
              <a:t>. Poole, D. (2014). Linear Algebra: A Modern Introduction. Cengage Learning. (Referencia para métodos de Gauss-Jordan y Producto Punto).</a:t>
            </a:r>
          </a:p>
          <a:p>
            <a:pPr algn="just">
              <a:lnSpc>
                <a:spcPts val="3600"/>
              </a:lnSpc>
            </a:pPr>
          </a:p>
          <a:p>
            <a:pPr algn="just">
              <a:lnSpc>
                <a:spcPts val="3600"/>
              </a:lnSpc>
            </a:pPr>
            <a:r>
              <a:rPr lang="en-US" sz="3000" b="true">
                <a:solidFill>
                  <a:srgbClr val="F0F2FD"/>
                </a:solidFill>
                <a:latin typeface="Codec Pro Ultra-Bold"/>
                <a:ea typeface="Codec Pro Ultra-Bold"/>
                <a:cs typeface="Codec Pro Ultra-Bold"/>
                <a:sym typeface="Codec Pro Ultra-Bold"/>
              </a:rPr>
              <a:t>4. IBM Security. Matrix Algebra in Modern Encryption Pr</a:t>
            </a:r>
            <a:r>
              <a:rPr lang="en-US" sz="3000" b="true">
                <a:solidFill>
                  <a:srgbClr val="F0F2FD"/>
                </a:solidFill>
                <a:latin typeface="Codec Pro Ultra-Bold"/>
                <a:ea typeface="Codec Pro Ultra-Bold"/>
                <a:cs typeface="Codec Pro Ultra-Bold"/>
                <a:sym typeface="Codec Pro Ultra-Bold"/>
              </a:rPr>
              <a:t>otocols. (Referencia para aplicaciones de matrices en software profesional).</a:t>
            </a:r>
          </a:p>
          <a:p>
            <a:pPr algn="just">
              <a:lnSpc>
                <a:spcPts val="3600"/>
              </a:lnSpc>
            </a:pPr>
          </a:p>
          <a:p>
            <a:pPr algn="just">
              <a:lnSpc>
                <a:spcPts val="3600"/>
              </a:lnSpc>
            </a:pPr>
            <a:r>
              <a:rPr lang="en-US" sz="3000" b="true">
                <a:solidFill>
                  <a:srgbClr val="F0F2FD"/>
                </a:solidFill>
                <a:latin typeface="Codec Pro Ultra-Bold"/>
                <a:ea typeface="Codec Pro Ultra-Bold"/>
                <a:cs typeface="Codec Pro Ultra-Bold"/>
                <a:sym typeface="Codec Pro Ultra-Bold"/>
              </a:rPr>
              <a:t>5. Geeks for Geeks. Image Processing and Data Structures with Matrices. (Referencia para la gestión de memoria y estructuras de datos).</a:t>
            </a:r>
          </a:p>
          <a:p>
            <a:pPr algn="just">
              <a:lnSpc>
                <a:spcPts val="3600"/>
              </a:lnSpc>
            </a:pPr>
          </a:p>
          <a:p>
            <a:pPr algn="just">
              <a:lnSpc>
                <a:spcPts val="3600"/>
              </a:lnSpc>
            </a:pPr>
            <a:r>
              <a:rPr lang="en-US" sz="3000" b="true">
                <a:solidFill>
                  <a:srgbClr val="F0F2FD"/>
                </a:solidFill>
                <a:latin typeface="Codec Pro Ultra-Bold"/>
                <a:ea typeface="Codec Pro Ultra-Bold"/>
                <a:cs typeface="Codec Pro Ultra-Bold"/>
                <a:sym typeface="Codec Pro Ultra-Bold"/>
              </a:rPr>
              <a:t>6. Anton, H. (2014). Elementary Linear Algebra. Wiley.</a:t>
            </a:r>
          </a:p>
        </p:txBody>
      </p:sp>
      <p:grpSp>
        <p:nvGrpSpPr>
          <p:cNvPr name="Group 5" id="5"/>
          <p:cNvGrpSpPr/>
          <p:nvPr/>
        </p:nvGrpSpPr>
        <p:grpSpPr>
          <a:xfrm rot="0">
            <a:off x="4978946" y="713473"/>
            <a:ext cx="599730" cy="630453"/>
            <a:chOff x="0" y="0"/>
            <a:chExt cx="773191" cy="812800"/>
          </a:xfrm>
        </p:grpSpPr>
        <p:sp>
          <p:nvSpPr>
            <p:cNvPr name="Freeform 6" id="6"/>
            <p:cNvSpPr/>
            <p:nvPr/>
          </p:nvSpPr>
          <p:spPr>
            <a:xfrm flipH="false" flipV="false" rot="0">
              <a:off x="0" y="0"/>
              <a:ext cx="773191" cy="812800"/>
            </a:xfrm>
            <a:custGeom>
              <a:avLst/>
              <a:gdLst/>
              <a:ahLst/>
              <a:cxnLst/>
              <a:rect r="r" b="b" t="t" l="l"/>
              <a:pathLst>
                <a:path h="812800" w="773191">
                  <a:moveTo>
                    <a:pt x="386595" y="0"/>
                  </a:moveTo>
                  <a:cubicBezTo>
                    <a:pt x="173085" y="0"/>
                    <a:pt x="0" y="181951"/>
                    <a:pt x="0" y="406400"/>
                  </a:cubicBezTo>
                  <a:cubicBezTo>
                    <a:pt x="0" y="630849"/>
                    <a:pt x="173085" y="812800"/>
                    <a:pt x="386595" y="812800"/>
                  </a:cubicBezTo>
                  <a:cubicBezTo>
                    <a:pt x="600106" y="812800"/>
                    <a:pt x="773191" y="630849"/>
                    <a:pt x="773191" y="406400"/>
                  </a:cubicBezTo>
                  <a:cubicBezTo>
                    <a:pt x="773191" y="181951"/>
                    <a:pt x="600106" y="0"/>
                    <a:pt x="386595" y="0"/>
                  </a:cubicBezTo>
                  <a:close/>
                </a:path>
              </a:pathLst>
            </a:custGeom>
            <a:solidFill>
              <a:srgbClr val="3CDDDF"/>
            </a:solidFill>
          </p:spPr>
        </p:sp>
        <p:sp>
          <p:nvSpPr>
            <p:cNvPr name="TextBox 7" id="7"/>
            <p:cNvSpPr txBox="true"/>
            <p:nvPr/>
          </p:nvSpPr>
          <p:spPr>
            <a:xfrm>
              <a:off x="72487" y="19050"/>
              <a:ext cx="628218" cy="717550"/>
            </a:xfrm>
            <a:prstGeom prst="rect">
              <a:avLst/>
            </a:prstGeom>
          </p:spPr>
          <p:txBody>
            <a:bodyPr anchor="ctr" rtlCol="false" tIns="50800" lIns="50800" bIns="50800" rIns="50800"/>
            <a:lstStyle/>
            <a:p>
              <a:pPr algn="ctr">
                <a:lnSpc>
                  <a:spcPts val="2810"/>
                </a:lnSpc>
              </a:pPr>
            </a:p>
          </p:txBody>
        </p:sp>
      </p:grpSp>
      <p:sp>
        <p:nvSpPr>
          <p:cNvPr name="TextBox 8" id="8"/>
          <p:cNvSpPr txBox="true"/>
          <p:nvPr/>
        </p:nvSpPr>
        <p:spPr>
          <a:xfrm rot="0">
            <a:off x="5901203" y="371502"/>
            <a:ext cx="6872181" cy="1228670"/>
          </a:xfrm>
          <a:prstGeom prst="rect">
            <a:avLst/>
          </a:prstGeom>
        </p:spPr>
        <p:txBody>
          <a:bodyPr anchor="t" rtlCol="false" tIns="0" lIns="0" bIns="0" rIns="0">
            <a:spAutoFit/>
          </a:bodyPr>
          <a:lstStyle/>
          <a:p>
            <a:pPr algn="l" marL="0" indent="0" lvl="0">
              <a:lnSpc>
                <a:spcPts val="9176"/>
              </a:lnSpc>
              <a:spcBef>
                <a:spcPct val="0"/>
              </a:spcBef>
            </a:pPr>
            <a:r>
              <a:rPr lang="en-US" b="true" sz="7521" i="true" spc="-383">
                <a:solidFill>
                  <a:srgbClr val="6A84FF"/>
                </a:solidFill>
                <a:latin typeface="Poppins Bold Italics"/>
                <a:ea typeface="Poppins Bold Italics"/>
                <a:cs typeface="Poppins Bold Italics"/>
                <a:sym typeface="Poppins Bold Italics"/>
              </a:rPr>
              <a:t>BIBLIOGRAFÍAS</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11" r="0" b="-9211"/>
            </a:stretch>
          </a:blipFill>
        </p:spPr>
      </p:sp>
      <p:sp>
        <p:nvSpPr>
          <p:cNvPr name="Freeform 3" id="3"/>
          <p:cNvSpPr/>
          <p:nvPr/>
        </p:nvSpPr>
        <p:spPr>
          <a:xfrm flipH="false" flipV="false" rot="0">
            <a:off x="15294272" y="-270999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145880" y="6548305"/>
            <a:ext cx="5419991" cy="5419991"/>
          </a:xfrm>
          <a:custGeom>
            <a:avLst/>
            <a:gdLst/>
            <a:ahLst/>
            <a:cxnLst/>
            <a:rect r="r" b="b" t="t" l="l"/>
            <a:pathLst>
              <a:path h="5419991" w="5419991">
                <a:moveTo>
                  <a:pt x="0" y="0"/>
                </a:moveTo>
                <a:lnTo>
                  <a:pt x="5419991" y="0"/>
                </a:lnTo>
                <a:lnTo>
                  <a:pt x="5419991" y="5419990"/>
                </a:lnTo>
                <a:lnTo>
                  <a:pt x="0" y="5419990"/>
                </a:lnTo>
                <a:lnTo>
                  <a:pt x="0" y="0"/>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18420736" cy="11315700"/>
            <a:chOff x="0" y="0"/>
            <a:chExt cx="4851552" cy="2980267"/>
          </a:xfrm>
        </p:grpSpPr>
        <p:sp>
          <p:nvSpPr>
            <p:cNvPr name="Freeform 6" id="6"/>
            <p:cNvSpPr/>
            <p:nvPr/>
          </p:nvSpPr>
          <p:spPr>
            <a:xfrm flipH="false" flipV="false" rot="0">
              <a:off x="0" y="0"/>
              <a:ext cx="4851552" cy="2980267"/>
            </a:xfrm>
            <a:custGeom>
              <a:avLst/>
              <a:gdLst/>
              <a:ahLst/>
              <a:cxnLst/>
              <a:rect r="r" b="b" t="t" l="l"/>
              <a:pathLst>
                <a:path h="2980267" w="4851552">
                  <a:moveTo>
                    <a:pt x="0" y="0"/>
                  </a:moveTo>
                  <a:lnTo>
                    <a:pt x="4851552" y="0"/>
                  </a:lnTo>
                  <a:lnTo>
                    <a:pt x="4851552" y="2980267"/>
                  </a:lnTo>
                  <a:lnTo>
                    <a:pt x="0" y="2980267"/>
                  </a:lnTo>
                  <a:close/>
                </a:path>
              </a:pathLst>
            </a:custGeom>
            <a:gradFill rotWithShape="true">
              <a:gsLst>
                <a:gs pos="0">
                  <a:srgbClr val="000000">
                    <a:alpha val="75000"/>
                  </a:srgbClr>
                </a:gs>
                <a:gs pos="100000">
                  <a:srgbClr val="020076">
                    <a:alpha val="75000"/>
                  </a:srgbClr>
                </a:gs>
              </a:gsLst>
              <a:lin ang="2700000"/>
            </a:gradFill>
          </p:spPr>
        </p:sp>
        <p:sp>
          <p:nvSpPr>
            <p:cNvPr name="TextBox 7" id="7"/>
            <p:cNvSpPr txBox="true"/>
            <p:nvPr/>
          </p:nvSpPr>
          <p:spPr>
            <a:xfrm>
              <a:off x="0" y="-57150"/>
              <a:ext cx="4851552" cy="3037417"/>
            </a:xfrm>
            <a:prstGeom prst="rect">
              <a:avLst/>
            </a:prstGeom>
          </p:spPr>
          <p:txBody>
            <a:bodyPr anchor="ctr" rtlCol="false" tIns="50800" lIns="50800" bIns="50800" rIns="50800"/>
            <a:lstStyle/>
            <a:p>
              <a:pPr algn="ctr">
                <a:lnSpc>
                  <a:spcPts val="2810"/>
                </a:lnSpc>
              </a:pPr>
            </a:p>
          </p:txBody>
        </p:sp>
      </p:grpSp>
      <p:sp>
        <p:nvSpPr>
          <p:cNvPr name="TextBox 8" id="8"/>
          <p:cNvSpPr txBox="true"/>
          <p:nvPr/>
        </p:nvSpPr>
        <p:spPr>
          <a:xfrm rot="0">
            <a:off x="2851431" y="2984500"/>
            <a:ext cx="12717874" cy="3175000"/>
          </a:xfrm>
          <a:prstGeom prst="rect">
            <a:avLst/>
          </a:prstGeom>
        </p:spPr>
        <p:txBody>
          <a:bodyPr anchor="t" rtlCol="false" tIns="0" lIns="0" bIns="0" rIns="0">
            <a:spAutoFit/>
          </a:bodyPr>
          <a:lstStyle/>
          <a:p>
            <a:pPr algn="ctr">
              <a:lnSpc>
                <a:spcPts val="12199"/>
              </a:lnSpc>
            </a:pPr>
            <a:r>
              <a:rPr lang="en-US" b="true" sz="9999" i="true" spc="-509">
                <a:solidFill>
                  <a:srgbClr val="6A84FF"/>
                </a:solidFill>
                <a:latin typeface="Poppins Bold Italics"/>
                <a:ea typeface="Poppins Bold Italics"/>
                <a:cs typeface="Poppins Bold Italics"/>
                <a:sym typeface="Poppins Bold Italics"/>
              </a:rPr>
              <a:t>MUCHAS GRACIAS  POR SU ATENCIÓN!</a:t>
            </a:r>
          </a:p>
        </p:txBody>
      </p:sp>
      <p:grpSp>
        <p:nvGrpSpPr>
          <p:cNvPr name="Group 9" id="9"/>
          <p:cNvGrpSpPr/>
          <p:nvPr/>
        </p:nvGrpSpPr>
        <p:grpSpPr>
          <a:xfrm rot="-2536899">
            <a:off x="15553707" y="8737036"/>
            <a:ext cx="4080489" cy="2349107"/>
            <a:chOff x="0" y="0"/>
            <a:chExt cx="1074697" cy="618695"/>
          </a:xfrm>
        </p:grpSpPr>
        <p:sp>
          <p:nvSpPr>
            <p:cNvPr name="Freeform 10" id="10"/>
            <p:cNvSpPr/>
            <p:nvPr/>
          </p:nvSpPr>
          <p:spPr>
            <a:xfrm flipH="false" flipV="false" rot="0">
              <a:off x="0" y="0"/>
              <a:ext cx="1074697" cy="618695"/>
            </a:xfrm>
            <a:custGeom>
              <a:avLst/>
              <a:gdLst/>
              <a:ahLst/>
              <a:cxnLst/>
              <a:rect r="r" b="b" t="t" l="l"/>
              <a:pathLst>
                <a:path h="618695" w="1074697">
                  <a:moveTo>
                    <a:pt x="0" y="0"/>
                  </a:moveTo>
                  <a:lnTo>
                    <a:pt x="1074697" y="0"/>
                  </a:lnTo>
                  <a:lnTo>
                    <a:pt x="1074697" y="618695"/>
                  </a:lnTo>
                  <a:lnTo>
                    <a:pt x="0" y="618695"/>
                  </a:lnTo>
                  <a:close/>
                </a:path>
              </a:pathLst>
            </a:custGeom>
            <a:gradFill rotWithShape="true">
              <a:gsLst>
                <a:gs pos="0">
                  <a:srgbClr val="2C3094">
                    <a:alpha val="100000"/>
                  </a:srgbClr>
                </a:gs>
                <a:gs pos="100000">
                  <a:srgbClr val="6B7FE1">
                    <a:alpha val="100000"/>
                  </a:srgbClr>
                </a:gs>
              </a:gsLst>
              <a:lin ang="0"/>
            </a:gradFill>
          </p:spPr>
        </p:sp>
        <p:sp>
          <p:nvSpPr>
            <p:cNvPr name="TextBox 11" id="11"/>
            <p:cNvSpPr txBox="true"/>
            <p:nvPr/>
          </p:nvSpPr>
          <p:spPr>
            <a:xfrm>
              <a:off x="0" y="-57150"/>
              <a:ext cx="1074697" cy="675845"/>
            </a:xfrm>
            <a:prstGeom prst="rect">
              <a:avLst/>
            </a:prstGeom>
          </p:spPr>
          <p:txBody>
            <a:bodyPr anchor="ctr" rtlCol="false" tIns="50800" lIns="50800" bIns="50800" rIns="50800"/>
            <a:lstStyle/>
            <a:p>
              <a:pPr algn="ctr">
                <a:lnSpc>
                  <a:spcPts val="2810"/>
                </a:lnSpc>
              </a:pPr>
            </a:p>
          </p:txBody>
        </p:sp>
      </p:grpSp>
      <p:grpSp>
        <p:nvGrpSpPr>
          <p:cNvPr name="Group 12" id="12"/>
          <p:cNvGrpSpPr/>
          <p:nvPr/>
        </p:nvGrpSpPr>
        <p:grpSpPr>
          <a:xfrm rot="-2536899">
            <a:off x="14526927" y="9314299"/>
            <a:ext cx="3086100" cy="116363"/>
            <a:chOff x="0" y="0"/>
            <a:chExt cx="812800" cy="30647"/>
          </a:xfrm>
        </p:grpSpPr>
        <p:sp>
          <p:nvSpPr>
            <p:cNvPr name="Freeform 13" id="13"/>
            <p:cNvSpPr/>
            <p:nvPr/>
          </p:nvSpPr>
          <p:spPr>
            <a:xfrm flipH="false" flipV="false" rot="0">
              <a:off x="0" y="0"/>
              <a:ext cx="812800" cy="30647"/>
            </a:xfrm>
            <a:custGeom>
              <a:avLst/>
              <a:gdLst/>
              <a:ahLst/>
              <a:cxnLst/>
              <a:rect r="r" b="b" t="t" l="l"/>
              <a:pathLst>
                <a:path h="30647" w="812800">
                  <a:moveTo>
                    <a:pt x="0" y="0"/>
                  </a:moveTo>
                  <a:lnTo>
                    <a:pt x="812800" y="0"/>
                  </a:lnTo>
                  <a:lnTo>
                    <a:pt x="812800" y="30647"/>
                  </a:lnTo>
                  <a:lnTo>
                    <a:pt x="0" y="30647"/>
                  </a:lnTo>
                  <a:close/>
                </a:path>
              </a:pathLst>
            </a:custGeom>
            <a:solidFill>
              <a:srgbClr val="FFFFFF"/>
            </a:solidFill>
          </p:spPr>
        </p:sp>
        <p:sp>
          <p:nvSpPr>
            <p:cNvPr name="TextBox 14" id="14"/>
            <p:cNvSpPr txBox="true"/>
            <p:nvPr/>
          </p:nvSpPr>
          <p:spPr>
            <a:xfrm>
              <a:off x="0" y="-57150"/>
              <a:ext cx="812800" cy="87797"/>
            </a:xfrm>
            <a:prstGeom prst="rect">
              <a:avLst/>
            </a:prstGeom>
          </p:spPr>
          <p:txBody>
            <a:bodyPr anchor="ctr" rtlCol="false" tIns="50800" lIns="50800" bIns="50800" rIns="50800"/>
            <a:lstStyle/>
            <a:p>
              <a:pPr algn="ctr">
                <a:lnSpc>
                  <a:spcPts val="2810"/>
                </a:lnSpc>
              </a:pPr>
            </a:p>
          </p:txBody>
        </p:sp>
      </p:grpSp>
      <p:grpSp>
        <p:nvGrpSpPr>
          <p:cNvPr name="Group 15" id="15"/>
          <p:cNvGrpSpPr/>
          <p:nvPr/>
        </p:nvGrpSpPr>
        <p:grpSpPr>
          <a:xfrm rot="-2536899">
            <a:off x="-2247817" y="-145853"/>
            <a:ext cx="4920099" cy="2349107"/>
            <a:chOff x="0" y="0"/>
            <a:chExt cx="1295829" cy="618695"/>
          </a:xfrm>
        </p:grpSpPr>
        <p:sp>
          <p:nvSpPr>
            <p:cNvPr name="Freeform 16" id="16"/>
            <p:cNvSpPr/>
            <p:nvPr/>
          </p:nvSpPr>
          <p:spPr>
            <a:xfrm flipH="false" flipV="false" rot="0">
              <a:off x="0" y="0"/>
              <a:ext cx="1295829" cy="618695"/>
            </a:xfrm>
            <a:custGeom>
              <a:avLst/>
              <a:gdLst/>
              <a:ahLst/>
              <a:cxnLst/>
              <a:rect r="r" b="b" t="t" l="l"/>
              <a:pathLst>
                <a:path h="618695" w="1295829">
                  <a:moveTo>
                    <a:pt x="0" y="0"/>
                  </a:moveTo>
                  <a:lnTo>
                    <a:pt x="1295829" y="0"/>
                  </a:lnTo>
                  <a:lnTo>
                    <a:pt x="1295829" y="618695"/>
                  </a:lnTo>
                  <a:lnTo>
                    <a:pt x="0" y="618695"/>
                  </a:lnTo>
                  <a:close/>
                </a:path>
              </a:pathLst>
            </a:custGeom>
            <a:gradFill rotWithShape="true">
              <a:gsLst>
                <a:gs pos="0">
                  <a:srgbClr val="2C3094">
                    <a:alpha val="100000"/>
                  </a:srgbClr>
                </a:gs>
                <a:gs pos="100000">
                  <a:srgbClr val="6B7FE1">
                    <a:alpha val="100000"/>
                  </a:srgbClr>
                </a:gs>
              </a:gsLst>
              <a:lin ang="0"/>
            </a:gradFill>
          </p:spPr>
        </p:sp>
        <p:sp>
          <p:nvSpPr>
            <p:cNvPr name="TextBox 17" id="17"/>
            <p:cNvSpPr txBox="true"/>
            <p:nvPr/>
          </p:nvSpPr>
          <p:spPr>
            <a:xfrm>
              <a:off x="0" y="-57150"/>
              <a:ext cx="1295829" cy="675845"/>
            </a:xfrm>
            <a:prstGeom prst="rect">
              <a:avLst/>
            </a:prstGeom>
          </p:spPr>
          <p:txBody>
            <a:bodyPr anchor="ctr" rtlCol="false" tIns="50800" lIns="50800" bIns="50800" rIns="50800"/>
            <a:lstStyle/>
            <a:p>
              <a:pPr algn="ctr">
                <a:lnSpc>
                  <a:spcPts val="2810"/>
                </a:lnSpc>
              </a:pPr>
            </a:p>
          </p:txBody>
        </p:sp>
      </p:grpSp>
      <p:grpSp>
        <p:nvGrpSpPr>
          <p:cNvPr name="Group 18" id="18"/>
          <p:cNvGrpSpPr/>
          <p:nvPr/>
        </p:nvGrpSpPr>
        <p:grpSpPr>
          <a:xfrm rot="-2536899">
            <a:off x="550298" y="1146309"/>
            <a:ext cx="3086100" cy="116363"/>
            <a:chOff x="0" y="0"/>
            <a:chExt cx="812800" cy="30647"/>
          </a:xfrm>
        </p:grpSpPr>
        <p:sp>
          <p:nvSpPr>
            <p:cNvPr name="Freeform 19" id="19"/>
            <p:cNvSpPr/>
            <p:nvPr/>
          </p:nvSpPr>
          <p:spPr>
            <a:xfrm flipH="false" flipV="false" rot="0">
              <a:off x="0" y="0"/>
              <a:ext cx="812800" cy="30647"/>
            </a:xfrm>
            <a:custGeom>
              <a:avLst/>
              <a:gdLst/>
              <a:ahLst/>
              <a:cxnLst/>
              <a:rect r="r" b="b" t="t" l="l"/>
              <a:pathLst>
                <a:path h="30647" w="812800">
                  <a:moveTo>
                    <a:pt x="0" y="0"/>
                  </a:moveTo>
                  <a:lnTo>
                    <a:pt x="812800" y="0"/>
                  </a:lnTo>
                  <a:lnTo>
                    <a:pt x="812800" y="30647"/>
                  </a:lnTo>
                  <a:lnTo>
                    <a:pt x="0" y="30647"/>
                  </a:lnTo>
                  <a:close/>
                </a:path>
              </a:pathLst>
            </a:custGeom>
            <a:solidFill>
              <a:srgbClr val="FFFFFF"/>
            </a:solidFill>
          </p:spPr>
        </p:sp>
        <p:sp>
          <p:nvSpPr>
            <p:cNvPr name="TextBox 20" id="20"/>
            <p:cNvSpPr txBox="true"/>
            <p:nvPr/>
          </p:nvSpPr>
          <p:spPr>
            <a:xfrm>
              <a:off x="0" y="-57150"/>
              <a:ext cx="812800" cy="87797"/>
            </a:xfrm>
            <a:prstGeom prst="rect">
              <a:avLst/>
            </a:prstGeom>
          </p:spPr>
          <p:txBody>
            <a:bodyPr anchor="ctr" rtlCol="false" tIns="50800" lIns="50800" bIns="50800" rIns="50800"/>
            <a:lstStyle/>
            <a:p>
              <a:pPr algn="ctr">
                <a:lnSpc>
                  <a:spcPts val="2810"/>
                </a:lnSpc>
              </a:pPr>
            </a:p>
          </p:txBody>
        </p:sp>
      </p:gr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DAHKCHWs28M</dc:identifier>
  <dcterms:modified xsi:type="dcterms:W3CDTF">2011-08-01T06:04:30Z</dcterms:modified>
  <cp:revision>1</cp:revision>
  <dc:title>Presentación Álgebra Lineal - Informe Final</dc:title>
</cp:coreProperties>
</file>